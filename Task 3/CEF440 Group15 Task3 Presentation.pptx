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  <p:sldId id="271" r:id="rId10"/>
    <p:sldId id="272" r:id="rId11"/>
    <p:sldId id="287" r:id="rId12"/>
    <p:sldId id="288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D82-48E0-ADD7-243DF9378FE0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82-48E0-ADD7-243DF9378FE0}"/>
              </c:ext>
            </c:extLst>
          </c:dPt>
          <c:dPt>
            <c:idx val="2"/>
            <c:bubble3D val="0"/>
            <c:spPr>
              <a:solidFill>
                <a:srgbClr val="E05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82-48E0-ADD7-243DF9378FE0}"/>
              </c:ext>
            </c:extLst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D82-48E0-ADD7-243DF9378F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82-48E0-ADD7-243DF9378F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82-48E0-ADD7-243DF9378F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D82-48E0-ADD7-243DF9378FE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82-48E0-ADD7-243DF9378F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Smartphone</c:v>
                </c:pt>
                <c:pt idx="1">
                  <c:v>Laptop</c:v>
                </c:pt>
                <c:pt idx="2">
                  <c:v>Tablet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63.1</c:v>
                </c:pt>
                <c:pt idx="1">
                  <c:v>35.700000000000003</c:v>
                </c:pt>
                <c:pt idx="2">
                  <c:v>0.8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D82-48E0-ADD7-243DF9378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txPr>
          <a:bodyPr/>
          <a:lstStyle/>
          <a:p>
            <a:pPr>
              <a:defRPr sz="1000">
                <a:solidFill>
                  <a:srgbClr val="1E293B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>
                <a:solidFill>
                  <a:srgbClr val="1E293B"/>
                </a:solidFill>
              </a:defRPr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000">
                <a:solidFill>
                  <a:srgbClr val="1E293B"/>
                </a:solidFill>
              </a:defRPr>
            </a:pPr>
            <a:endParaRPr lang="en-US"/>
          </a:p>
        </c:txPr>
      </c:legendEntry>
      <c:layout>
        <c:manualLayout>
          <c:xMode val="edge"/>
          <c:yMode val="edge"/>
          <c:x val="0.22286326721428645"/>
          <c:y val="0.88772888146276729"/>
          <c:w val="0.62810055414679999"/>
          <c:h val="7.9346149874284524E-2"/>
        </c:manualLayout>
      </c:layout>
      <c:overlay val="0"/>
      <c:txPr>
        <a:bodyPr/>
        <a:lstStyle/>
        <a:p>
          <a:pPr>
            <a:defRPr sz="7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37-45AC-BA60-DC5D6EE73C8D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37-45AC-BA60-DC5D6EE73C8D}"/>
              </c:ext>
            </c:extLst>
          </c:dPt>
          <c:dPt>
            <c:idx val="2"/>
            <c:bubble3D val="0"/>
            <c:spPr>
              <a:solidFill>
                <a:srgbClr val="E05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37-45AC-BA60-DC5D6EE73C8D}"/>
              </c:ext>
            </c:extLst>
          </c:dPt>
          <c:dLbls>
            <c:dLbl>
              <c:idx val="0"/>
              <c:layout>
                <c:manualLayout>
                  <c:x val="-0.15798689450580475"/>
                  <c:y val="-3.7747362521131471E-2"/>
                </c:manualLayout>
              </c:layout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59.5%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537-45AC-BA60-DC5D6EE73C8D}"/>
                </c:ext>
              </c:extLst>
            </c:dLbl>
            <c:dLbl>
              <c:idx val="1"/>
              <c:layout>
                <c:manualLayout>
                  <c:x val="0.16226755594739753"/>
                  <c:y val="8.9260692298652102E-3"/>
                </c:manualLayout>
              </c:layout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29.8%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537-45AC-BA60-DC5D6EE73C8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10.7%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37-45AC-BA60-DC5D6EE73C8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Android</c:v>
                </c:pt>
                <c:pt idx="1">
                  <c:v>Windows</c:v>
                </c:pt>
                <c:pt idx="2">
                  <c:v>iOS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59.5</c:v>
                </c:pt>
                <c:pt idx="1">
                  <c:v>29.8</c:v>
                </c:pt>
                <c:pt idx="2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37-45AC-BA60-DC5D6EE73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82-4EDE-9DF2-3968BE461FB2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82-4EDE-9DF2-3968BE461FB2}"/>
              </c:ext>
            </c:extLst>
          </c:dPt>
          <c:dPt>
            <c:idx val="2"/>
            <c:bubble3D val="0"/>
            <c:spPr>
              <a:solidFill>
                <a:srgbClr val="E05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82-4EDE-9DF2-3968BE461FB2}"/>
              </c:ext>
            </c:extLst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82-4EDE-9DF2-3968BE461FB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82-4EDE-9DF2-3968BE461FB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82-4EDE-9DF2-3968BE461FB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82-4EDE-9DF2-3968BE461FB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382-4EDE-9DF2-3968BE461F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Mobile data</c:v>
                </c:pt>
                <c:pt idx="1">
                  <c:v>Both</c:v>
                </c:pt>
                <c:pt idx="2">
                  <c:v>Wi-Fi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41.7</c:v>
                </c:pt>
                <c:pt idx="1">
                  <c:v>46.4</c:v>
                </c:pt>
                <c:pt idx="2">
                  <c:v>11.9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82-4EDE-9DF2-3968BE461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Cost of data</c:v>
                </c:pt>
                <c:pt idx="1">
                  <c:v>Internet issues</c:v>
                </c:pt>
                <c:pt idx="2">
                  <c:v>Distractions</c:v>
                </c:pt>
                <c:pt idx="3">
                  <c:v>Lack of understanding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72.599999999999994</c:v>
                </c:pt>
                <c:pt idx="1">
                  <c:v>69</c:v>
                </c:pt>
                <c:pt idx="2">
                  <c:v>42.9</c:v>
                </c:pt>
                <c:pt idx="3">
                  <c:v>9.5</c:v>
                </c:pt>
                <c:pt idx="4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B2-4C34-8FF0-E92933FB6F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BC-43C5-BD99-D35ACDDCDC10}"/>
              </c:ext>
            </c:extLst>
          </c:dPt>
          <c:dLbls>
            <c:dLbl>
              <c:idx val="0"/>
              <c:layout>
                <c:manualLayout>
                  <c:x val="-1.2642832524722288E-3"/>
                  <c:y val="-0.41645579720506781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BC-43C5-BD99-D35ACDDCDC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Very important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BC-43C5-BD99-D35ACDDCD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Tracking</c:v>
                </c:pt>
                <c:pt idx="1">
                  <c:v>Content delivery</c:v>
                </c:pt>
                <c:pt idx="2">
                  <c:v>Storage</c:v>
                </c:pt>
                <c:pt idx="3">
                  <c:v>Reporting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66.7</c:v>
                </c:pt>
                <c:pt idx="2">
                  <c:v>66.7</c:v>
                </c:pt>
                <c:pt idx="3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02-423E-BDC2-9565E963FB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D7-4455-BDAE-0E7413961611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D7-4455-BDAE-0E7413961611}"/>
              </c:ext>
            </c:extLst>
          </c:dPt>
          <c:dPt>
            <c:idx val="2"/>
            <c:bubble3D val="0"/>
            <c:spPr>
              <a:solidFill>
                <a:srgbClr val="E05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D7-4455-BDAE-0E741396161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D7-4455-BDAE-0E741396161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D7-4455-BDAE-0E741396161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D7-4455-BDAE-0E741396161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Laptop</c:v>
                </c:pt>
                <c:pt idx="1">
                  <c:v>Smartphone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33.299999999999997</c:v>
                </c:pt>
                <c:pt idx="2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6D7-4455-BDAE-0E74139616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17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71DC-D9C3-D642-D21B-5530CA5E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40884-4F2C-0553-211A-1B19CD21A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C42DD-FBD2-9A25-2874-789BFA2D8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F00C4-364E-5C0A-1DA4-F3344C221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05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&amp; Technology  ·  Dept. of Computer Engineering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0"/>
          </a:xfrm>
          <a:prstGeom prst="line">
            <a:avLst/>
          </a:prstGeom>
          <a:noFill/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E-Learning Platform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Quality of Experience for Inclusive Online Education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Low-Resource Settings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6400800" cy="0"/>
          </a:xfrm>
          <a:prstGeom prst="line">
            <a:avLst/>
          </a:prstGeom>
          <a:noFill/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GROUP 15  ·  CEF440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KELSEY NJOCK-AWOH NJOCK OBEN – FE23A073   NJINYA NGECHA RYAN BROWN – FE23A116   BRIANNA TEBESICK TSAMO – FE23A028  KARL JONAS WENGE ACHA – FE23A072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 Nkemeni Valery  ·  May 12,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Task 2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challenges faced by stakeholders and identify features needed to improve the learning experience in low-resource environments.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Learners, Instructors, Parents, and School Administrators — the main stakeholders of e-learning systems.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6060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(primary), Brainstorming sessions, and Reverse Engineering of existing e-learning platforms.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 were cleaned before analysis to ensure accuracy and reliability of the dataset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representations were generated to identify patterns, trends, and major challenges in online learning.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64008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46320" y="3703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and extract functional and non-functional system requirements for this adaptive e-learning platform and decide what type of system to build.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Learners Mostly Use Smartphones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7"/>
            <a:ext cx="4985252" cy="92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64008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29768" y="84124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04138"/>
            <a:ext cx="48480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 of learners use smartphones as their primary device for accessing online learning platforms.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98549"/>
            <a:ext cx="4985252" cy="181051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9560" y="2098549"/>
            <a:ext cx="45719" cy="1810511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20624" y="21854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" y="2519173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are the primary means through which learners access online education. Since smartphones are more accessible and affordable in low-resource settings, the system must prioritize mobile accessibility.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79" y="4384549"/>
            <a:ext cx="8790999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448747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6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4665390"/>
            <a:ext cx="8458200" cy="432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provide a mobile-friendly and responsive interface optimized for smartphone usage.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05876" y="795528"/>
            <a:ext cx="3509524" cy="3113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80525" y="9808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5512" y="1042415"/>
            <a:ext cx="326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4214962109"/>
              </p:ext>
            </p:extLst>
          </p:nvPr>
        </p:nvGraphicFramePr>
        <p:xfrm>
          <a:off x="5555512" y="1371599"/>
          <a:ext cx="3268448" cy="2314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Most Learners Use Android Devices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4978164" cy="95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45719" cy="95338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95389" y="86861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5389" y="1128559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 of respondents use Android devices, while 29.8% use Windows and 10.7% use iOS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" y="2255736"/>
            <a:ext cx="4978164" cy="1379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62129" y="2251617"/>
            <a:ext cx="45719" cy="13716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8328" y="2263356"/>
            <a:ext cx="1828800" cy="38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9597" y="2727291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 are the most commonly available among learners in low-resource environments. The platform must function effectively on Android phones with different screen sizes and hardware capabilities.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" y="4137660"/>
            <a:ext cx="8622792" cy="845466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8327" y="4216800"/>
            <a:ext cx="2071719" cy="262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6324" y="4439304"/>
            <a:ext cx="84016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be compatible with Android devices and support low-end smartphones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66784" y="795528"/>
            <a:ext cx="3502896" cy="323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621426" y="9829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445806268"/>
              </p:ext>
            </p:extLst>
          </p:nvPr>
        </p:nvGraphicFramePr>
        <p:xfrm>
          <a:off x="5366784" y="1371600"/>
          <a:ext cx="3457176" cy="2654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Many Learners Depend on Mobile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2624"/>
            <a:ext cx="5303520" cy="89625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95527"/>
            <a:ext cx="45719" cy="869039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91236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" y="111266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rely solely on mobile data; 46.4% use both Wi-Fi and mobile data for learning.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06170"/>
            <a:ext cx="5303520" cy="145600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1615" y="2206169"/>
            <a:ext cx="45719" cy="1456003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1073" y="23822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" y="25848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learners depend heavily on mobile internet, which is often expensive and unstable. High data usage may discourage continuous participation in online learning activities.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238171"/>
            <a:ext cx="8572500" cy="81791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31073" y="436520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073" y="4569242"/>
            <a:ext cx="831378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optimize bandwidth and minimize data consumption during content delivery.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37860" y="795528"/>
            <a:ext cx="3108960" cy="323218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903720" y="9372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1088207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490075456"/>
              </p:ext>
            </p:extLst>
          </p:nvPr>
        </p:nvGraphicFramePr>
        <p:xfrm>
          <a:off x="5806440" y="1371599"/>
          <a:ext cx="3017520" cy="2532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Poor Network Quality &amp; High Data Costs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5074920" cy="82825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88036" y="809642"/>
            <a:ext cx="64008" cy="814143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78848"/>
            <a:ext cx="48644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cited internet issues and 72.6% cited cost of data as major challenges in online learning.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93540"/>
            <a:ext cx="5074920" cy="1426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85351" y="2093540"/>
            <a:ext cx="45719" cy="14136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2225513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0988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connectivity reduces the quality of online lessons and may prevent learners from participating effectively. High data costs also limit access to educational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137660"/>
            <a:ext cx="8595360" cy="923689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8328" y="423193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" y="4395578"/>
            <a:ext cx="83188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function effectively under low-bandwidth conditions and provide adaptive content delivery.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0040" y="1033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433505520"/>
              </p:ext>
            </p:extLst>
          </p:nvPr>
        </p:nvGraphicFramePr>
        <p:xfrm>
          <a:off x="5806440" y="1348739"/>
          <a:ext cx="3017520" cy="2446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Parents Want Progress Tracking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7830" y="958234"/>
            <a:ext cx="5303520" cy="9374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97830" y="958234"/>
            <a:ext cx="64008" cy="937476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5311" y="101636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5311" y="124612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parent respondents rated progress tracking as 'Very Important' for monitoring their children.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31426"/>
            <a:ext cx="5303520" cy="1551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Shape 7"/>
          <p:cNvSpPr/>
          <p:nvPr/>
        </p:nvSpPr>
        <p:spPr>
          <a:xfrm>
            <a:off x="274320" y="2231425"/>
            <a:ext cx="45720" cy="1551431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232257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50386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want full visibility into their children's participation and academic performance in online learning activities.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369526"/>
            <a:ext cx="8563356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44413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5311" y="4594860"/>
            <a:ext cx="833337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provide learner progress tracking and monitoring features accessible to parents.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795528"/>
            <a:ext cx="3108960" cy="33421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65983" y="109307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740843218"/>
              </p:ext>
            </p:extLst>
          </p:nvPr>
        </p:nvGraphicFramePr>
        <p:xfrm>
          <a:off x="5806440" y="1371600"/>
          <a:ext cx="3017520" cy="2531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School Administrators Value Attendance &amp; Progress Tracking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148072" cy="87713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92608" y="1014984"/>
            <a:ext cx="45719" cy="858846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10334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" y="1308173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administrators listed attendance, participation, and progress tracking as their top priority.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65829"/>
            <a:ext cx="5148072" cy="129634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92608" y="2365829"/>
            <a:ext cx="45719" cy="1296343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2440325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61449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require monitoring tools to supervise academic activities and evaluate learner engagement effectively.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259942"/>
            <a:ext cx="8595360" cy="776513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439158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REQUIREMENT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" y="4523958"/>
            <a:ext cx="826806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provide attendance, participation, and progress tracking functionalities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50992" y="795527"/>
            <a:ext cx="3218688" cy="323944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11696" y="106172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116730141"/>
              </p:ext>
            </p:extLst>
          </p:nvPr>
        </p:nvGraphicFramePr>
        <p:xfrm>
          <a:off x="5806440" y="1371600"/>
          <a:ext cx="3017520" cy="2421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Survey Findings  ·  Instructors Use Laptops for Online Teaching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19" y="803854"/>
            <a:ext cx="5303520" cy="89375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45720" cy="89375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918573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08891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instructors primarily use laptops; 33.3% use smartphones; 16.7% use tablets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19" y="2187158"/>
            <a:ext cx="5303520" cy="170288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92608" y="2187158"/>
            <a:ext cx="64008" cy="1702887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3570" y="2469315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752089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are the primary devices through which instructors provide online education, making it easy to teach, manage students, and upload course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4254425"/>
            <a:ext cx="8686800" cy="685801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4319" y="433810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19" y="4501315"/>
            <a:ext cx="847053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provide a responsive interface optimized for laptop and desktop usage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795527"/>
            <a:ext cx="3108960" cy="326121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003868" y="108882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832190516"/>
              </p:ext>
            </p:extLst>
          </p:nvPr>
        </p:nvGraphicFramePr>
        <p:xfrm>
          <a:off x="5806440" y="1371600"/>
          <a:ext cx="3017520" cy="252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8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-77086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Survey Findings &amp; Requirements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36610"/>
              </p:ext>
            </p:extLst>
          </p:nvPr>
        </p:nvGraphicFramePr>
        <p:xfrm>
          <a:off x="7088" y="482009"/>
          <a:ext cx="9151088" cy="4611869"/>
        </p:xfrm>
        <a:graphic>
          <a:graphicData uri="http://schemas.openxmlformats.org/drawingml/2006/table">
            <a:tbl>
              <a:tblPr/>
              <a:tblGrid>
                <a:gridCol w="175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7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learners use smartphones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mainly depend on smartphones for accessing online education.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mobile-friendly and responsive interface.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learners use 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is most accessible among learners in low-resource settings.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Android devices including low-end smartphones.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depend on mobile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data costs and unstable internet affect participation.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data consumption and optimize bandwidth.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outages affect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interruptions disrupt online learning activities.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offline access and progress recovery.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prefer multimedia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learners understand content via different formats.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video, audio, and text-based materials.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1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network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internet reduces effectiveness of online learning.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effectively under low-bandwidth conditions.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want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improves engagement and understanding.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live chat and discussion features.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7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 want quizzes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tools are key for evaluating learner participation.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quizzes, assessments, and attendance tracking.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B5700-79B1-3D61-5CB6-3B0F2A97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B60170-6379-ABDD-86BD-B2A4AE6D036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9C4C0F-8569-4823-22D9-97B84A7A7D21}"/>
              </a:ext>
            </a:extLst>
          </p:cNvPr>
          <p:cNvSpPr/>
          <p:nvPr/>
        </p:nvSpPr>
        <p:spPr>
          <a:xfrm>
            <a:off x="256244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Survey Findings &amp; Requirements</a:t>
            </a:r>
            <a:endParaRPr lang="en-US" sz="220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84EE9C4E-0A85-1CF0-E5FC-75A2D7BD0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976023"/>
              </p:ext>
            </p:extLst>
          </p:nvPr>
        </p:nvGraphicFramePr>
        <p:xfrm>
          <a:off x="0" y="685800"/>
          <a:ext cx="9151088" cy="4457699"/>
        </p:xfrm>
        <a:graphic>
          <a:graphicData uri="http://schemas.openxmlformats.org/drawingml/2006/table">
            <a:tbl>
              <a:tblPr/>
              <a:tblGrid>
                <a:gridCol w="175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7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want progress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want to monitor learning activities and performance.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learner progress tracking features.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1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value attendance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need monitoring tools for academic supervision.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attendance, participation, and progress tracking.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11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want offline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access is vital in low-resource environments.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downloadable and offline-accessible content.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1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 face network 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internet affects lesson delivery and communication.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acceptable performance under poor network.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1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 want recording &amp;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and live chat improve teaching effectiveness.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lesson recording and real-time communication.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64008" marT="36576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1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 Analysis of Requirements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7772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requirements were systematically clarified by analyzing survey responses and converting them into specific, measurable, and implementable system functions.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1417320"/>
            <a:ext cx="886968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E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7160" y="1417320"/>
            <a:ext cx="6400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"Learners want interaction with lecturers"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81051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as: live chat, Q&amp;A sessions, and discussion forums.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" y="2313432"/>
            <a:ext cx="8869680" cy="804672"/>
          </a:xfrm>
          <a:prstGeom prst="rect">
            <a:avLst/>
          </a:prstGeom>
          <a:solidFill>
            <a:srgbClr val="EDF7EE"/>
          </a:solidFill>
          <a:ln w="12700">
            <a:solidFill>
              <a:srgbClr val="D0E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37160" y="2313432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6032" y="23591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"Poor network affects learning"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270662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to: low-bandwidth optimization, adaptive content quality, and reconnection support.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" y="3209544"/>
            <a:ext cx="8869680" cy="804672"/>
          </a:xfrm>
          <a:prstGeom prst="rect">
            <a:avLst/>
          </a:prstGeom>
          <a:solidFill>
            <a:srgbClr val="E8F4F8"/>
          </a:solidFill>
          <a:ln w="12700">
            <a:solidFill>
              <a:srgbClr val="D0E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37160" y="3209544"/>
            <a:ext cx="64008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6032" y="325526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"Parents want to monitor their children"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" y="360273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as: progress tracking dashboards, activity reports, and performance summaries.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" y="4105656"/>
            <a:ext cx="8869680" cy="804672"/>
          </a:xfrm>
          <a:prstGeom prst="rect">
            <a:avLst/>
          </a:prstGeom>
          <a:solidFill>
            <a:srgbClr val="EDF7EE"/>
          </a:solidFill>
          <a:ln w="12700">
            <a:solidFill>
              <a:srgbClr val="D0E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37160" y="4105656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56032" y="41513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"Administrators want reports"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" y="44988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as: attendance reports, performance reports, and engagement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Feasibility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822960"/>
            <a:ext cx="8869680" cy="749808"/>
          </a:xfrm>
          <a:prstGeom prst="rect">
            <a:avLst/>
          </a:prstGeom>
          <a:solidFill>
            <a:srgbClr val="EDF7ED"/>
          </a:solidFill>
          <a:ln w="12700">
            <a:solidFill>
              <a:srgbClr val="B2D8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built with React (frontend), Node.js/Express (backend), and PostgreSQL — all widely-used, stable technologies.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673352"/>
            <a:ext cx="8869680" cy="749808"/>
          </a:xfrm>
          <a:prstGeom prst="rect">
            <a:avLst/>
          </a:prstGeom>
          <a:solidFill>
            <a:srgbClr val="EDF7ED"/>
          </a:solidFill>
          <a:ln w="12700">
            <a:solidFill>
              <a:srgbClr val="B2D8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1810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(authentication, RBAC, content upload, quizzes, attendance, progress monitoring) are fully feasible using existing frameworks.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" y="2523744"/>
            <a:ext cx="8869680" cy="749808"/>
          </a:xfrm>
          <a:prstGeom prst="rect">
            <a:avLst/>
          </a:prstGeom>
          <a:solidFill>
            <a:srgbClr val="EDF7ED"/>
          </a:solidFill>
          <a:ln w="12700">
            <a:solidFill>
              <a:srgbClr val="B2D8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28600" y="26609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streaming, compression, lazy loading, and bandwidth-based quality adjustment are technically possible and used in existing platforms.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" y="3374136"/>
            <a:ext cx="8869680" cy="749808"/>
          </a:xfrm>
          <a:prstGeom prst="rect">
            <a:avLst/>
          </a:prstGeom>
          <a:solidFill>
            <a:srgbClr val="EDF7ED"/>
          </a:solidFill>
          <a:ln w="12700">
            <a:solidFill>
              <a:srgbClr val="B2D8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2860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4655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functionality is realistic through browser caching, service workers, and local storage mechanisms.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" y="4224528"/>
            <a:ext cx="886968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28600" y="43616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8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(real-time sync under unstable networks, seamless reconnection, intelligent QoE adaptation) require additional effort and careful design.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257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Relationships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568483"/>
              </p:ext>
            </p:extLst>
          </p:nvPr>
        </p:nvGraphicFramePr>
        <p:xfrm>
          <a:off x="137160" y="777240"/>
          <a:ext cx="886968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 &amp;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database, auth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must be authenticated before accessing any feature.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must identify users before assigning permissions.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Course/content 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accounts, content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authenticated instructors can upload materials.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Quizzes &amp; assessments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module, user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must be linked to courses and valid users.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tracking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user participation in sessions or system logs.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Assessments, attendance, content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data from quizzes, attendance, and activity.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learning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download, storage/cache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downloaded content for offline access.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content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monitoring, content delivery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network data to adjust content quality dynamically.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Identification of Issues in Requirements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Inconsistencies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455788"/>
              </p:ext>
            </p:extLst>
          </p:nvPr>
        </p:nvGraphicFramePr>
        <p:xfrm>
          <a:off x="137160" y="777240"/>
          <a:ext cx="8869680" cy="41696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prefer video but complain about high data costs.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lessons require significant bandwidth.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video quality, audio-only mode, downloadable notes.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want live interaction despite unstable internet.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sessions depend on stable internet which is limited.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lessons, reconnection support, live chat alternatives.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Schools want advanced features but lack infrastructure.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 may lack technical resources for complex systems.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lightweight technologies and cloud-based deployment.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expect continuous access while using shared devices.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devices reduce availability and continuity.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cross-device login and offline content access.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 want live teaching while power outages are common.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interruptions disrupt online teaching sessions.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lesson recording, automatic progress saving, session recovery.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777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survey responses were clarified by interpreting user intent and converting broad statements into specific, implementable requirements.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311442"/>
              </p:ext>
            </p:extLst>
          </p:nvPr>
        </p:nvGraphicFramePr>
        <p:xfrm>
          <a:off x="137160" y="1298448"/>
          <a:ext cx="8869680" cy="3584448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Statement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"Learners want interaction with lecturers"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live chat, Q&amp;A sessions, and discussion forums.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"Poor network affects learning"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low-bandwidth mode, adaptive video quality, reconnection after failure.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"Parents want to monitor their children"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with attendance, progress, and performance reports.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"System should be easy to use"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UI, minimal navigation steps, and clear layout for all user roles.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"System should work well in low-resource settings"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data usage, support offline access, function under slow internet.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"Students should learn effectively"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multimedia content, quizzes, feedback, and adaptive learning.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Information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331933"/>
              </p:ext>
            </p:extLst>
          </p:nvPr>
        </p:nvGraphicFramePr>
        <p:xfrm>
          <a:off x="137160" y="777240"/>
          <a:ext cx="8869680" cy="419970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learning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requested offline access but did not specify content access/update method.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Downloadable content with caching and synchronization when internet is available.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adaptation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details on how the system should adjust to poor internet.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streaming, compression, and low-data modes.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roles and permissions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were identified but access levels were not clearly defined.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control for learners, instructors, parents, and admins.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&amp; progress tracking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specification on how tracking should be done (manual or automatic).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tracking via login sessions, quiz results, and activity logs.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performance expectations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 benchmarks for speed, data usage, or scalability.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Low-bandwidth optimization, fast loading time, and lightweight design principles.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of Requirements  (1/2)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99113"/>
              </p:ext>
            </p:extLst>
          </p:nvPr>
        </p:nvGraphicFramePr>
        <p:xfrm>
          <a:off x="0" y="777240"/>
          <a:ext cx="9144000" cy="4366263"/>
        </p:xfrm>
        <a:graphic>
          <a:graphicData uri="http://schemas.openxmlformats.org/drawingml/2006/table">
            <a:tbl>
              <a:tblPr/>
              <a:tblGrid>
                <a:gridCol w="433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role-based access (Learner, Instructor, Admin, Parent)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Mobile-friendly and responsive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Course/content upload and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lessons (video/audio/text materials)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quizzes and assessments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and progress tracking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downloadable learning materials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of Requirements  (2/2)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30086"/>
              </p:ext>
            </p:extLst>
          </p:nvPr>
        </p:nvGraphicFramePr>
        <p:xfrm>
          <a:off x="228600" y="777240"/>
          <a:ext cx="8686800" cy="352958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Low-bandwidth optimization (data saving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video classes (basic implementation)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Should-have (simplified)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chat / Q&amp;A during lessons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rating and feedback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monitoring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QoE-based adaptive streaming (auto quality switching)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Nice-to-have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reconnection during live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Nice-to-have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73152" anchor="ctr">
                    <a:lnL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E0F4F7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20040" y="4453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Must-have requirements cover core learning and low-resource features. Live video is simplified due to time constraints. Advanced QoE adaptive streaming is Nice-to-have due to complexity.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Requirements  ·  Functional Requirements  (1/2)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define WHAT the system should do — its features and services.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6" name="Shape 4"/>
          <p:cNvSpPr/>
          <p:nvPr/>
        </p:nvSpPr>
        <p:spPr>
          <a:xfrm>
            <a:off x="274320" y="1057068"/>
            <a:ext cx="45720" cy="48463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7" name="Text 5"/>
          <p:cNvSpPr/>
          <p:nvPr/>
        </p:nvSpPr>
        <p:spPr>
          <a:xfrm>
            <a:off x="393192" y="110917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FR01  Allow users to register, log in, and access the platform based on their roles (Learner, Instructor, Parent, Administrator).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393192" y="16367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FR02  Provide role-based access control for different user categories.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3" name="Text 11"/>
          <p:cNvSpPr/>
          <p:nvPr/>
        </p:nvSpPr>
        <p:spPr>
          <a:xfrm>
            <a:off x="393192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FR03  Allow instructors to upload and manage learning content.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6" name="Text 14"/>
          <p:cNvSpPr/>
          <p:nvPr/>
        </p:nvSpPr>
        <p:spPr>
          <a:xfrm>
            <a:off x="393192" y="26426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FR04  Provide learners with access to video, audio, text, and slide-based learning materials.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9" name="Text 17"/>
          <p:cNvSpPr/>
          <p:nvPr/>
        </p:nvSpPr>
        <p:spPr>
          <a:xfrm>
            <a:off x="393192" y="31455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FR05  Support recorded lessons that learners can access at any time.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393192" y="36484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FR06  Provide online quizzes and assessments for learners.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5" name="Text 23"/>
          <p:cNvSpPr/>
          <p:nvPr/>
        </p:nvSpPr>
        <p:spPr>
          <a:xfrm>
            <a:off x="393192" y="41513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FR07  Track learner attendance during sessions or system usage.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7" name="Shape 25"/>
          <p:cNvSpPr/>
          <p:nvPr/>
        </p:nvSpPr>
        <p:spPr>
          <a:xfrm>
            <a:off x="4709160" y="109728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8" name="Text 26"/>
          <p:cNvSpPr/>
          <p:nvPr/>
        </p:nvSpPr>
        <p:spPr>
          <a:xfrm>
            <a:off x="4828032" y="11338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FR08  Track instructor attendance.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60020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0" name="Shape 28"/>
          <p:cNvSpPr/>
          <p:nvPr/>
        </p:nvSpPr>
        <p:spPr>
          <a:xfrm>
            <a:off x="4709160" y="160020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1" name="Text 29"/>
          <p:cNvSpPr/>
          <p:nvPr/>
        </p:nvSpPr>
        <p:spPr>
          <a:xfrm>
            <a:off x="4828032" y="16367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FR09  Track learner progress based on activities and assessments.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3" name="Shape 31"/>
          <p:cNvSpPr/>
          <p:nvPr/>
        </p:nvSpPr>
        <p:spPr>
          <a:xfrm>
            <a:off x="4709160" y="210312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4" name="Text 32"/>
          <p:cNvSpPr/>
          <p:nvPr/>
        </p:nvSpPr>
        <p:spPr>
          <a:xfrm>
            <a:off x="4828032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  Allow live classes for real-time teaching and learning.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260604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6" name="Shape 34"/>
          <p:cNvSpPr/>
          <p:nvPr/>
        </p:nvSpPr>
        <p:spPr>
          <a:xfrm>
            <a:off x="4709160" y="260604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7" name="Text 35"/>
          <p:cNvSpPr/>
          <p:nvPr/>
        </p:nvSpPr>
        <p:spPr>
          <a:xfrm>
            <a:off x="4828032" y="26426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FR11  Provide live chat and Q&amp;A features during lessons.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310896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9" name="Shape 37"/>
          <p:cNvSpPr/>
          <p:nvPr/>
        </p:nvSpPr>
        <p:spPr>
          <a:xfrm>
            <a:off x="4709160" y="310896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0" name="Text 38"/>
          <p:cNvSpPr/>
          <p:nvPr/>
        </p:nvSpPr>
        <p:spPr>
          <a:xfrm>
            <a:off x="4828032" y="31455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FR12  Allow learners to rate and give feedback on instructors.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2" name="Shape 40"/>
          <p:cNvSpPr/>
          <p:nvPr/>
        </p:nvSpPr>
        <p:spPr>
          <a:xfrm>
            <a:off x="4709160" y="361188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3" name="Text 41"/>
          <p:cNvSpPr/>
          <p:nvPr/>
        </p:nvSpPr>
        <p:spPr>
          <a:xfrm>
            <a:off x="4828032" y="36484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FR13  Provide parents with access to monitor learner progress.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411480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5" name="Shape 43"/>
          <p:cNvSpPr/>
          <p:nvPr/>
        </p:nvSpPr>
        <p:spPr>
          <a:xfrm>
            <a:off x="4709160" y="4114800"/>
            <a:ext cx="54864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6" name="Text 44"/>
          <p:cNvSpPr/>
          <p:nvPr/>
        </p:nvSpPr>
        <p:spPr>
          <a:xfrm>
            <a:off x="4828032" y="41513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FR14  Generate reports for administrators on attendance, performance, and engagement.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Requirements  ·  Non-Functional Requirements  (2/2)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define HOW the system should perform — quality attributes and constraints.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and optimized for smartphone usage.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Android devices including low-end smartphones.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low-bandwidth environments and unstable internet connections.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8288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data consumption during content delivery.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offline access through downloadable learning materials.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Text 19"/>
          <p:cNvSpPr/>
          <p:nvPr/>
        </p:nvSpPr>
        <p:spPr>
          <a:xfrm>
            <a:off x="480060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system reliability and availability in low-resource settings.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loading times (&lt; 5 seconds) and responsive user interaction.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29184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7" name="Text 25"/>
          <p:cNvSpPr/>
          <p:nvPr/>
        </p:nvSpPr>
        <p:spPr>
          <a:xfrm>
            <a:off x="48006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for users with low digital literacy (simple, intuitive UI).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0" name="Text 28"/>
          <p:cNvSpPr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adaptive content delivery based on network conditions.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402336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3" name="Text 31"/>
          <p:cNvSpPr/>
          <p:nvPr/>
        </p:nvSpPr>
        <p:spPr>
          <a:xfrm>
            <a:off x="480060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security and restricts access based on user roles.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12801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define the functional and non-functional requirements of an adaptive e-learning platform based on Quality of Experience (QoE) for inclusive online education in low-resource settings.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64008" cy="12801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learners, instructors, parents, and administrators in environments with limited resources — unstable internet, power outages, and limited device access. Covers content delivery, interaction, assessments, tracking, and adaptive features.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64008" cy="1280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4" name="Text 12"/>
          <p:cNvSpPr/>
          <p:nvPr/>
        </p:nvSpPr>
        <p:spPr>
          <a:xfrm>
            <a:off x="457200" y="3685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accessibility to education, enhance learner engagement, support instructors in delivering content effectively, and enable administrators and parents to monitor learning activities. Optimize for low-resource conditions through adaptive delivery and offline capabilities.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System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10058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adaptive e-learning platform delivering educational content in multiple formats (video, audio, text). Designed to adjust to network conditions and provide offline learning capabilities for continuity in low-resource environments.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7432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content, take quizzes, attend live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219456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4" name="Text 12"/>
          <p:cNvSpPr/>
          <p:nvPr/>
        </p:nvSpPr>
        <p:spPr>
          <a:xfrm>
            <a:off x="322783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0592" y="27432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9992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content, manage quizzes, hold live classes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19456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5404104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6864" y="27432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9992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child's progress and attendance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03136" y="219456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7580376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27432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4576" y="29992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generate reports, oversee 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E0F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  →  User Auth  ·  Role-based Access  ·  Content Management  ·  Live &amp; Recorded Lessons  ·  Quizzes &amp; Assessments  ·  Attendance Tracking  ·  Progress Monitoring  ·  Communication Tools  ·  Adaptive Content Delivery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Functional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365760" y="8138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 in, and access the platform based on assigned roles.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4800600" y="8138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841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learners, instructors, parents, and administrators.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4416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3" name="Shape 11"/>
          <p:cNvSpPr/>
          <p:nvPr/>
        </p:nvSpPr>
        <p:spPr>
          <a:xfrm>
            <a:off x="274320" y="1344168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4" name="Text 12"/>
          <p:cNvSpPr/>
          <p:nvPr/>
        </p:nvSpPr>
        <p:spPr>
          <a:xfrm>
            <a:off x="365760" y="138074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4081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 upload and manage learning content.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34416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7" name="Shape 15"/>
          <p:cNvSpPr/>
          <p:nvPr/>
        </p:nvSpPr>
        <p:spPr>
          <a:xfrm>
            <a:off x="4709160" y="1344168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4800600" y="138074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4081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 access video, audio, text, and slide-based learning materials.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911096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Shape 19"/>
          <p:cNvSpPr/>
          <p:nvPr/>
        </p:nvSpPr>
        <p:spPr>
          <a:xfrm>
            <a:off x="274320" y="1911096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365760" y="1947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19751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recorded lessons accessible offline or online.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911096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5" name="Shape 23"/>
          <p:cNvSpPr/>
          <p:nvPr/>
        </p:nvSpPr>
        <p:spPr>
          <a:xfrm>
            <a:off x="4709160" y="1911096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6" name="Text 24"/>
          <p:cNvSpPr/>
          <p:nvPr/>
        </p:nvSpPr>
        <p:spPr>
          <a:xfrm>
            <a:off x="4800600" y="1947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9751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online quizzes and assessments for learners.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478024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9" name="Shape 27"/>
          <p:cNvSpPr/>
          <p:nvPr/>
        </p:nvSpPr>
        <p:spPr>
          <a:xfrm>
            <a:off x="274320" y="2478024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0" name="Text 28"/>
          <p:cNvSpPr/>
          <p:nvPr/>
        </p:nvSpPr>
        <p:spPr>
          <a:xfrm>
            <a:off x="365760" y="251460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2542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learner attendance and participation.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478024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3" name="Shape 31"/>
          <p:cNvSpPr/>
          <p:nvPr/>
        </p:nvSpPr>
        <p:spPr>
          <a:xfrm>
            <a:off x="4709160" y="2478024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4" name="Text 32"/>
          <p:cNvSpPr/>
          <p:nvPr/>
        </p:nvSpPr>
        <p:spPr>
          <a:xfrm>
            <a:off x="4800600" y="251460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2542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instructor attendance.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044952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7" name="Shape 35"/>
          <p:cNvSpPr/>
          <p:nvPr/>
        </p:nvSpPr>
        <p:spPr>
          <a:xfrm>
            <a:off x="274320" y="3044952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8" name="Text 36"/>
          <p:cNvSpPr/>
          <p:nvPr/>
        </p:nvSpPr>
        <p:spPr>
          <a:xfrm>
            <a:off x="365760" y="30815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" y="3108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learner progress based on activities and assessments.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3044952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1" name="Shape 39"/>
          <p:cNvSpPr/>
          <p:nvPr/>
        </p:nvSpPr>
        <p:spPr>
          <a:xfrm>
            <a:off x="4709160" y="3044952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2" name="Text 40"/>
          <p:cNvSpPr/>
          <p:nvPr/>
        </p:nvSpPr>
        <p:spPr>
          <a:xfrm>
            <a:off x="4800600" y="30815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3108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live classes for real-time teaching and learning.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61188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5" name="Shape 43"/>
          <p:cNvSpPr/>
          <p:nvPr/>
        </p:nvSpPr>
        <p:spPr>
          <a:xfrm>
            <a:off x="274320" y="3611880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6" name="Text 44"/>
          <p:cNvSpPr/>
          <p:nvPr/>
        </p:nvSpPr>
        <p:spPr>
          <a:xfrm>
            <a:off x="365760" y="364845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live chat and Q&amp;A functionality during lessons.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361188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9" name="Shape 47"/>
          <p:cNvSpPr/>
          <p:nvPr/>
        </p:nvSpPr>
        <p:spPr>
          <a:xfrm>
            <a:off x="4709160" y="3611880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0" name="Text 48"/>
          <p:cNvSpPr/>
          <p:nvPr/>
        </p:nvSpPr>
        <p:spPr>
          <a:xfrm>
            <a:off x="4800600" y="364845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learners to rate and give feedback on instructors.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417880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3" name="Shape 51"/>
          <p:cNvSpPr/>
          <p:nvPr/>
        </p:nvSpPr>
        <p:spPr>
          <a:xfrm>
            <a:off x="274320" y="4178808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4" name="Text 52"/>
          <p:cNvSpPr/>
          <p:nvPr/>
        </p:nvSpPr>
        <p:spPr>
          <a:xfrm>
            <a:off x="365760" y="42153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77240" y="42428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parents with access to learner progress information.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09160" y="417880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7" name="Shape 55"/>
          <p:cNvSpPr/>
          <p:nvPr/>
        </p:nvSpPr>
        <p:spPr>
          <a:xfrm>
            <a:off x="4709160" y="4178808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8" name="Text 56"/>
          <p:cNvSpPr/>
          <p:nvPr/>
        </p:nvSpPr>
        <p:spPr>
          <a:xfrm>
            <a:off x="4800600" y="42153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12080" y="42428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for administrators on attendance, performance, and engagement.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Non-Functional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393192" y="8321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NFR01  ·  MOBILE-FRIENDLY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10642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smartphone usage.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4828032" y="8321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NFR02  ·  ANDROID COMPATIBLE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10642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low-end Android devices.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4" name="Text 12"/>
          <p:cNvSpPr/>
          <p:nvPr/>
        </p:nvSpPr>
        <p:spPr>
          <a:xfrm>
            <a:off x="393192" y="1655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NFR03  ·  LOW-BANDWIDTH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192938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efficiently under unstable network.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7" name="Shape 15"/>
          <p:cNvSpPr/>
          <p:nvPr/>
        </p:nvSpPr>
        <p:spPr>
          <a:xfrm>
            <a:off x="4709160" y="160020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4828032" y="1655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NFR04  ·  DATA 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92938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data consumption during delivery.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393192" y="2478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NFR05  ·  OFFLINE ACCESS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" y="275234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downloadable learning materials.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6" name="Text 24"/>
          <p:cNvSpPr/>
          <p:nvPr/>
        </p:nvSpPr>
        <p:spPr>
          <a:xfrm>
            <a:off x="4828032" y="2478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NFR06  ·  RELIABILITY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275234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in low-resource settings.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0" name="Text 28"/>
          <p:cNvSpPr/>
          <p:nvPr/>
        </p:nvSpPr>
        <p:spPr>
          <a:xfrm>
            <a:off x="393192" y="3300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NFR07  ·  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3575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and smooth user interaction.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2461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3" name="Shape 31"/>
          <p:cNvSpPr/>
          <p:nvPr/>
        </p:nvSpPr>
        <p:spPr>
          <a:xfrm>
            <a:off x="4709160" y="324612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4" name="Text 32"/>
          <p:cNvSpPr/>
          <p:nvPr/>
        </p:nvSpPr>
        <p:spPr>
          <a:xfrm>
            <a:off x="4828032" y="3300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NFR08  ·  USABILITY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575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varying digital literacy levels.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406908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8" name="Text 36"/>
          <p:cNvSpPr/>
          <p:nvPr/>
        </p:nvSpPr>
        <p:spPr>
          <a:xfrm>
            <a:off x="393192" y="41239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NFR09  ·  SECURITY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" y="439826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role-based access control.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406908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41" name="Shape 39"/>
          <p:cNvSpPr/>
          <p:nvPr/>
        </p:nvSpPr>
        <p:spPr>
          <a:xfrm>
            <a:off x="4709160" y="4069080"/>
            <a:ext cx="54864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2" name="Text 40"/>
          <p:cNvSpPr/>
          <p:nvPr/>
        </p:nvSpPr>
        <p:spPr>
          <a:xfrm>
            <a:off x="4828032" y="41239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NFR10  ·  SCALABILITY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439826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concurrent users.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4160520" cy="38404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Network Constraints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operate under low bandwidth and unstable internet.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support intermittent connectivity with partial offline functionality.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03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must work even with fluctuating network speeds.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9552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1" name="Shape 9"/>
          <p:cNvSpPr/>
          <p:nvPr/>
        </p:nvSpPr>
        <p:spPr>
          <a:xfrm>
            <a:off x="4709160" y="795528"/>
            <a:ext cx="4160520" cy="38404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2" name="Text 10"/>
          <p:cNvSpPr/>
          <p:nvPr/>
        </p:nvSpPr>
        <p:spPr>
          <a:xfrm>
            <a:off x="4800600" y="7955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Device 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optimized for low-end Android smartphones.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17190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also support laptops used by instructors.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22037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must be responsive and lightweight.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365760" y="28986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 Constraints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37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ensure fast loading times even on slow networks.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822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content must be compressed to reduce data usage.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4306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must not introduce significant delays.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986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3" name="Shape 21"/>
          <p:cNvSpPr/>
          <p:nvPr/>
        </p:nvSpPr>
        <p:spPr>
          <a:xfrm>
            <a:off x="4709160" y="2898648"/>
            <a:ext cx="4160520" cy="384048"/>
          </a:xfrm>
          <a:prstGeom prst="rect">
            <a:avLst/>
          </a:prstGeom>
          <a:solidFill>
            <a:srgbClr val="6DB38A"/>
          </a:solidFill>
          <a:ln w="12700">
            <a:solidFill>
              <a:srgbClr val="6DB38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4" name="Text 22"/>
          <p:cNvSpPr/>
          <p:nvPr/>
        </p:nvSpPr>
        <p:spPr>
          <a:xfrm>
            <a:off x="4800600" y="28986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Usability &amp; Content Constraints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3337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individuals with varying levels of digital literacy.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3822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intuitive, and mobile-friendly interface.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4306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content must be optimized or compressed before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Technological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9144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single adaptable codebase for mobile and desktop. Bypasses large app store downloads, conserves device storage, and leverages browser caching for offline access during power outages.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64008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(FRONTEND)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Virtual DOM architecture minimizes memory and processing usage, keeping the app fast and responsive on low-end Android smartphones predominantly used by learners.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25496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ON NODE.JS (BACKEND)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Asynchronous, event-driven architecture efficiently handles real-time features such as live chat and Q&amp;A interactions without failing under low-bandwidth network conditions.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49624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7" name="Shape 15"/>
          <p:cNvSpPr/>
          <p:nvPr/>
        </p:nvSpPr>
        <p:spPr>
          <a:xfrm>
            <a:off x="274320" y="3849624"/>
            <a:ext cx="64008" cy="914400"/>
          </a:xfrm>
          <a:prstGeom prst="rect">
            <a:avLst/>
          </a:prstGeom>
          <a:solidFill>
            <a:srgbClr val="6DB38A"/>
          </a:solidFill>
          <a:ln w="12700">
            <a:solidFill>
              <a:srgbClr val="6DB38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(DATABASE)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data management securely implements role-based access control (Learners, Instructors, Parents, Admins) and accurately tracks learner attendance and academic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 ·  Assumptions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743200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347472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Assumptions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basic digital literacy to navigate web platforms.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with the platform individually — no shared accounts.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7955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0" name="Shape 8"/>
          <p:cNvSpPr/>
          <p:nvPr/>
        </p:nvSpPr>
        <p:spPr>
          <a:xfrm>
            <a:off x="3172968" y="795528"/>
            <a:ext cx="274320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1" name="Text 9"/>
          <p:cNvSpPr/>
          <p:nvPr/>
        </p:nvSpPr>
        <p:spPr>
          <a:xfrm>
            <a:off x="3246120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Device Assumptions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will access the system using smartphones.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7373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will primarily use laptops.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98277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support modern web browsers capable of rendering multimedia.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7955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6" name="Shape 14"/>
          <p:cNvSpPr/>
          <p:nvPr/>
        </p:nvSpPr>
        <p:spPr>
          <a:xfrm>
            <a:off x="6071616" y="795528"/>
            <a:ext cx="2743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7" name="Text 15"/>
          <p:cNvSpPr/>
          <p:nvPr/>
        </p:nvSpPr>
        <p:spPr>
          <a:xfrm>
            <a:off x="6144768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Connectivity Assumptions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have at least occasional internet access, even if unstable.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63056" y="17373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speed may vary but will allow periodic content synchronization.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529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2743200" cy="347472"/>
          </a:xfrm>
          <a:prstGeom prst="rect">
            <a:avLst/>
          </a:prstGeom>
          <a:solidFill>
            <a:srgbClr val="6DB38A"/>
          </a:solidFill>
          <a:ln w="12700">
            <a:solidFill>
              <a:srgbClr val="6DB38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347472" y="2852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Content Assumptions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2644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will upload relevant and structured learning materials.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will follow recommended formats to ensure compatibility and optimization.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72968" y="2852928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6" name="Shape 24"/>
          <p:cNvSpPr/>
          <p:nvPr/>
        </p:nvSpPr>
        <p:spPr>
          <a:xfrm>
            <a:off x="3172968" y="2852928"/>
            <a:ext cx="27432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7" name="Text 25"/>
          <p:cNvSpPr/>
          <p:nvPr/>
        </p:nvSpPr>
        <p:spPr>
          <a:xfrm>
            <a:off x="3246120" y="2852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System Usage Assumptions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2644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engage regularly enough for the system to adapt content delivery.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79476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based on network conditions will improve QoE.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requirements accurately reflect stakeholder needs and are realistic, relevant, and suitable for low-resource educational environments.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60520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 Stakeholders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summarized list of functional and non-functional requirements was shared with learners, instructors, and school administrators for review.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6052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2" name="Text 10"/>
          <p:cNvSpPr/>
          <p:nvPr/>
        </p:nvSpPr>
        <p:spPr>
          <a:xfrm>
            <a:off x="4818888" y="1280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Feedback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1847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confirmed the importance of offline support, recorded lessons, low-bandwidth optimization, quizzes, attendance tracking, and interaction tools.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605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7" name="Text 15"/>
          <p:cNvSpPr/>
          <p:nvPr/>
        </p:nvSpPr>
        <p:spPr>
          <a:xfrm>
            <a:off x="384048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&amp; Refinement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6301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or unclear requirements were clarified. Vague requirements were refined into more specific and measurable statements.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60520" cy="502920"/>
          </a:xfrm>
          <a:prstGeom prst="rect">
            <a:avLst/>
          </a:prstGeom>
          <a:solidFill>
            <a:srgbClr val="6DB38A"/>
          </a:solidFill>
          <a:ln w="12700">
            <a:solidFill>
              <a:srgbClr val="6DB38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2" name="Text 20"/>
          <p:cNvSpPr/>
          <p:nvPr/>
        </p:nvSpPr>
        <p:spPr>
          <a:xfrm>
            <a:off x="4818888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063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6301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was verified against survey findings and project objectives. Duplicate and conflicting requirements were removed.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Type, Frameworks &amp; Programming Languages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APPLICATION 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adaptable codebase for mobile (Android) and desktop  ·  No app store download  ·  Offline-capable via browser caching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2834640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Framework  ·  Language: JavaScript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DOM, lightweight, component-based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Markup &amp; Style  ·  Language: HTML / CSS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178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PWA shell, service workers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27832" y="224028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9" name="Shape 17"/>
          <p:cNvSpPr/>
          <p:nvPr/>
        </p:nvSpPr>
        <p:spPr>
          <a:xfrm>
            <a:off x="3227832" y="2240280"/>
            <a:ext cx="283464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0" name="Text 18"/>
          <p:cNvSpPr/>
          <p:nvPr/>
        </p:nvSpPr>
        <p:spPr>
          <a:xfrm>
            <a:off x="3319272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9272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9272" y="2926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Framework  ·  Language: JavaScript (Node.js)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9272" y="3127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event-driven — handles live chat &amp; real-time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9272" y="3977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Runtime  ·  Language: JavaScript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9272" y="4178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runtime environment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1344" y="2240280"/>
            <a:ext cx="2834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8" name="Shape 26"/>
          <p:cNvSpPr/>
          <p:nvPr/>
        </p:nvSpPr>
        <p:spPr>
          <a:xfrm>
            <a:off x="6181344" y="2240280"/>
            <a:ext cx="2834640" cy="347472"/>
          </a:xfrm>
          <a:prstGeom prst="rect">
            <a:avLst/>
          </a:prstGeom>
          <a:solidFill>
            <a:srgbClr val="6DB38A"/>
          </a:solidFill>
          <a:ln w="12700">
            <a:solidFill>
              <a:srgbClr val="6DB38A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9" name="Text 27"/>
          <p:cNvSpPr/>
          <p:nvPr/>
        </p:nvSpPr>
        <p:spPr>
          <a:xfrm>
            <a:off x="6272784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72784" y="2926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RDBMS  ·  Language: SQL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2784" y="3127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attendance &amp; progress tracking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4F7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4" name="Text 3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Languages:  JavaScript (React, Node.js, Express)  ·  SQL (PostgreSQL)  ·  HTML5  ·  CSS3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Way Forward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96596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64008" cy="196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321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successfully reviewed, analyzed, prioritized, and validated the system requirements for the proposed QoE-driven adaptive e-learning platform. By evaluating survey feedback from all stakeholders, we identified critical barriers — poor network quality, high data consumption, frequent power outages, and limited device capabilities.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prioritized essential features including offline learning, adaptive content delivery, recorded and live lessons, attendance tracking, and seamless instructor–learner interaction. These findings established a clear baseline for both functional and non-functional requirements, translated into clear, actionable technical specifications.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852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  ·  TASK 4: SYSTEM MODELLING &amp;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160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54864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Use Case &amp; Class Diagrams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47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interactions between stakeholders (Learner, Instructor, Parent, Admin) and the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3200400"/>
            <a:ext cx="4160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4" name="Shape 12"/>
          <p:cNvSpPr/>
          <p:nvPr/>
        </p:nvSpPr>
        <p:spPr>
          <a:xfrm>
            <a:off x="4709160" y="3200400"/>
            <a:ext cx="54864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Sequence &amp; Activity Diagrams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547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system workflows — login, content delivery, quiz submission, progress tracking.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4160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54864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416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PWA architecture: React frontend, Express/Node backend, PostgreSQL database layers.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4069080"/>
            <a:ext cx="4160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D1DC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200"/>
          </a:p>
        </p:txBody>
      </p:sp>
      <p:sp>
        <p:nvSpPr>
          <p:cNvPr id="22" name="Shape 20"/>
          <p:cNvSpPr/>
          <p:nvPr/>
        </p:nvSpPr>
        <p:spPr>
          <a:xfrm>
            <a:off x="4709160" y="4069080"/>
            <a:ext cx="54864" cy="7772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3" name="Text 21"/>
          <p:cNvSpPr/>
          <p:nvPr/>
        </p:nvSpPr>
        <p:spPr>
          <a:xfrm>
            <a:off x="484632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UI/UX Wireframes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416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low-fidelity wireframes for learner, instructor, parent, and admin dashboards.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3675</Words>
  <Application>Microsoft Office PowerPoint</Application>
  <PresentationFormat>On-screen Show (16:9)</PresentationFormat>
  <Paragraphs>552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CEF440 Group 15 – Task 3 Report</dc:title>
  <dc:subject>PptxGenJS Presentation</dc:subject>
  <dc:creator>PptxGenJS</dc:creator>
  <cp:lastModifiedBy>Kelsey Oben</cp:lastModifiedBy>
  <cp:revision>6</cp:revision>
  <dcterms:created xsi:type="dcterms:W3CDTF">2026-05-12T08:16:58Z</dcterms:created>
  <dcterms:modified xsi:type="dcterms:W3CDTF">2026-05-12T13:19:25Z</dcterms:modified>
</cp:coreProperties>
</file>