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10.fntdata" ContentType="application/x-fontdata"/>
  <Override PartName="/ppt/fonts/font11.fntdata" ContentType="application/x-fontdata"/>
  <Override PartName="/ppt/fonts/font12.fntdata" ContentType="application/x-fontdata"/>
  <Override PartName="/ppt/fonts/font13.fntdata" ContentType="application/x-fontdata"/>
  <Override PartName="/ppt/fonts/font14.fntdata" ContentType="application/x-fontdata"/>
  <Override PartName="/ppt/fonts/font15.fntdata" ContentType="application/x-fontdata"/>
  <Override PartName="/ppt/fonts/font16.fntdata" ContentType="application/x-fontdata"/>
  <Override PartName="/ppt/fonts/font17.fntdata" ContentType="application/x-fontdata"/>
  <Override PartName="/ppt/fonts/font18.fntdata" ContentType="application/x-fontdata"/>
  <Override PartName="/ppt/fonts/font19.fntdata" ContentType="application/x-fontdata"/>
  <Override PartName="/ppt/fonts/font2.fntdata" ContentType="application/x-fontdata"/>
  <Override PartName="/ppt/fonts/font20.fntdata" ContentType="application/x-fontdata"/>
  <Override PartName="/ppt/fonts/font21.fntdata" ContentType="application/x-fontdata"/>
  <Override PartName="/ppt/fonts/font2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fonts/font6.fntdata" ContentType="application/x-fontdata"/>
  <Override PartName="/ppt/fonts/font7.fntdata" ContentType="application/x-fontdata"/>
  <Override PartName="/ppt/fonts/font8.fntdata" ContentType="application/x-fontdata"/>
  <Override PartName="/ppt/fonts/font9.fntdata" ContentType="application/x-fontdata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23.svg" ContentType="image/svg+xml"/>
  <Override PartName="/ppt/media/image25.svg" ContentType="image/svg+xml"/>
  <Override PartName="/ppt/media/image27.svg" ContentType="image/svg+xml"/>
  <Override PartName="/ppt/media/image5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9144000" cy="5143500"/>
  <p:notesSz cx="5143500" cy="9144000"/>
  <p:embeddedFontLst>
    <p:embeddedFont>
      <p:font typeface="Roboto" panose="02000000000000000000" pitchFamily="34" charset="0"/>
      <p:regular r:id="rId17"/>
    </p:embeddedFont>
    <p:embeddedFont>
      <p:font typeface="Roboto" panose="02000000000000000000" pitchFamily="34" charset="-122"/>
      <p:regular r:id="rId18"/>
    </p:embeddedFont>
    <p:embeddedFont>
      <p:font typeface="Roboto" panose="02000000000000000000" pitchFamily="34" charset="-120"/>
      <p:regular r:id="rId19"/>
    </p:embeddedFont>
    <p:embeddedFont>
      <p:font typeface="Roboto Slab" pitchFamily="34" charset="0"/>
      <p:regular r:id="rId20"/>
    </p:embeddedFont>
    <p:embeddedFont>
      <p:font typeface="Roboto Slab" pitchFamily="34" charset="-122"/>
      <p:regular r:id="rId21"/>
    </p:embeddedFont>
    <p:embeddedFont>
      <p:font typeface="Roboto Slab" pitchFamily="34" charset="-120"/>
      <p:regular r:id="rId22"/>
    </p:embeddedFont>
    <p:embeddedFont>
      <p:font typeface="Consolas" panose="020B0609020204030204" pitchFamily="34" charset="0"/>
      <p:regular r:id="rId23"/>
      <p:bold r:id="rId24"/>
      <p:italic r:id="rId25"/>
      <p:boldItalic r:id="rId26"/>
    </p:embeddedFont>
    <p:embeddedFont>
      <p:font typeface="Consolas" panose="020B0609020204030204" pitchFamily="34" charset="-122"/>
      <p:regular r:id="rId27"/>
      <p:bold r:id="rId28"/>
      <p:italic r:id="rId29"/>
      <p:boldItalic r:id="rId30"/>
    </p:embeddedFont>
    <p:embeddedFont>
      <p:font typeface="Consolas" panose="020B0609020204030204" pitchFamily="34" charset="-120"/>
      <p:regular r:id="rId31"/>
      <p:bold r:id="rId32"/>
      <p:italic r:id="rId33"/>
      <p:boldItalic r:id="rId34"/>
    </p:embeddedFont>
    <p:embeddedFont>
      <p:font typeface="Calibri" panose="020F0502020204030204" charset="0"/>
      <p:regular r:id="rId35"/>
      <p:bold r:id="rId36"/>
      <p:italic r:id="rId37"/>
      <p:boldItalic r:id="rId3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8" Type="http://schemas.openxmlformats.org/officeDocument/2006/relationships/font" Target="fonts/font22.fntdata"/><Relationship Id="rId37" Type="http://schemas.openxmlformats.org/officeDocument/2006/relationships/font" Target="fonts/font21.fntdata"/><Relationship Id="rId36" Type="http://schemas.openxmlformats.org/officeDocument/2006/relationships/font" Target="fonts/font20.fntdata"/><Relationship Id="rId35" Type="http://schemas.openxmlformats.org/officeDocument/2006/relationships/font" Target="fonts/font19.fntdata"/><Relationship Id="rId34" Type="http://schemas.openxmlformats.org/officeDocument/2006/relationships/font" Target="fonts/font18.fntdata"/><Relationship Id="rId33" Type="http://schemas.openxmlformats.org/officeDocument/2006/relationships/font" Target="fonts/font17.fntdata"/><Relationship Id="rId32" Type="http://schemas.openxmlformats.org/officeDocument/2006/relationships/font" Target="fonts/font16.fntdata"/><Relationship Id="rId31" Type="http://schemas.openxmlformats.org/officeDocument/2006/relationships/font" Target="fonts/font15.fntdata"/><Relationship Id="rId30" Type="http://schemas.openxmlformats.org/officeDocument/2006/relationships/font" Target="fonts/font14.fntdata"/><Relationship Id="rId3" Type="http://schemas.openxmlformats.org/officeDocument/2006/relationships/slide" Target="slides/slide1.xml"/><Relationship Id="rId29" Type="http://schemas.openxmlformats.org/officeDocument/2006/relationships/font" Target="fonts/font13.fntdata"/><Relationship Id="rId28" Type="http://schemas.openxmlformats.org/officeDocument/2006/relationships/font" Target="fonts/font12.fntdata"/><Relationship Id="rId27" Type="http://schemas.openxmlformats.org/officeDocument/2006/relationships/font" Target="fonts/font11.fntdata"/><Relationship Id="rId26" Type="http://schemas.openxmlformats.org/officeDocument/2006/relationships/font" Target="fonts/font10.fntdata"/><Relationship Id="rId25" Type="http://schemas.openxmlformats.org/officeDocument/2006/relationships/font" Target="fonts/font9.fntdata"/><Relationship Id="rId24" Type="http://schemas.openxmlformats.org/officeDocument/2006/relationships/font" Target="fonts/font8.fntdata"/><Relationship Id="rId23" Type="http://schemas.openxmlformats.org/officeDocument/2006/relationships/font" Target="fonts/font7.fntdata"/><Relationship Id="rId22" Type="http://schemas.openxmlformats.org/officeDocument/2006/relationships/font" Target="fonts/font6.fntdata"/><Relationship Id="rId21" Type="http://schemas.openxmlformats.org/officeDocument/2006/relationships/font" Target="fonts/font5.fntdata"/><Relationship Id="rId20" Type="http://schemas.openxmlformats.org/officeDocument/2006/relationships/font" Target="fonts/font4.fntdata"/><Relationship Id="rId2" Type="http://schemas.openxmlformats.org/officeDocument/2006/relationships/theme" Target="theme/theme1.xml"/><Relationship Id="rId19" Type="http://schemas.openxmlformats.org/officeDocument/2006/relationships/font" Target="fonts/font3.fntdata"/><Relationship Id="rId18" Type="http://schemas.openxmlformats.org/officeDocument/2006/relationships/font" Target="fonts/font2.fntdata"/><Relationship Id="rId17" Type="http://schemas.openxmlformats.org/officeDocument/2006/relationships/font" Target="fonts/font1.fntdata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71B21"/>
          </a:solidFill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202733"/>
          </a:solidFill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svg"/><Relationship Id="rId1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image" Target="../media/image14.svg"/><Relationship Id="rId7" Type="http://schemas.openxmlformats.org/officeDocument/2006/relationships/image" Target="../media/image13.png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10.svg"/><Relationship Id="rId3" Type="http://schemas.openxmlformats.org/officeDocument/2006/relationships/image" Target="../media/image9.png"/><Relationship Id="rId2" Type="http://schemas.openxmlformats.org/officeDocument/2006/relationships/image" Target="../media/image8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2.xml"/><Relationship Id="rId10" Type="http://schemas.openxmlformats.org/officeDocument/2006/relationships/image" Target="../media/image16.svg"/><Relationship Id="rId1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1.png"/><Relationship Id="rId1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0.xml"/><Relationship Id="rId7" Type="http://schemas.openxmlformats.org/officeDocument/2006/relationships/slideLayout" Target="../slideLayouts/slideLayout2.xml"/><Relationship Id="rId6" Type="http://schemas.openxmlformats.org/officeDocument/2006/relationships/image" Target="../media/image27.svg"/><Relationship Id="rId5" Type="http://schemas.openxmlformats.org/officeDocument/2006/relationships/image" Target="../media/image26.png"/><Relationship Id="rId4" Type="http://schemas.openxmlformats.org/officeDocument/2006/relationships/image" Target="../media/image25.svg"/><Relationship Id="rId3" Type="http://schemas.openxmlformats.org/officeDocument/2006/relationships/image" Target="../media/image24.png"/><Relationship Id="rId2" Type="http://schemas.openxmlformats.org/officeDocument/2006/relationships/image" Target="../media/image23.svg"/><Relationship Id="rId1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813643"/>
            <a:ext cx="2392263" cy="1151781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96119" y="2124894"/>
            <a:ext cx="1624385" cy="266402"/>
          </a:xfrm>
          <a:prstGeom prst="roundRect">
            <a:avLst>
              <a:gd name="adj" fmla="val 6386"/>
            </a:avLst>
          </a:prstGeom>
          <a:solidFill>
            <a:srgbClr val="082545"/>
          </a:solidFill>
        </p:spPr>
      </p:sp>
      <p:sp>
        <p:nvSpPr>
          <p:cNvPr id="4" name="Text 1"/>
          <p:cNvSpPr/>
          <p:nvPr/>
        </p:nvSpPr>
        <p:spPr>
          <a:xfrm>
            <a:off x="581174" y="2167384"/>
            <a:ext cx="1911474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CEF440 · TASK 6 · GROUP 15</a:t>
            </a:r>
            <a:endParaRPr lang="en-US" sz="850" dirty="0"/>
          </a:p>
        </p:txBody>
      </p:sp>
      <p:sp>
        <p:nvSpPr>
          <p:cNvPr id="5" name="Text 2"/>
          <p:cNvSpPr/>
          <p:nvPr/>
        </p:nvSpPr>
        <p:spPr>
          <a:xfrm>
            <a:off x="496119" y="2447999"/>
            <a:ext cx="5483647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Adaptive E-Learning Platform</a:t>
            </a:r>
            <a:endParaRPr lang="en-US" sz="2750" dirty="0"/>
          </a:p>
        </p:txBody>
      </p:sp>
      <p:sp>
        <p:nvSpPr>
          <p:cNvPr id="6" name="Text 3"/>
          <p:cNvSpPr/>
          <p:nvPr/>
        </p:nvSpPr>
        <p:spPr>
          <a:xfrm>
            <a:off x="496119" y="3103587"/>
            <a:ext cx="8151763" cy="122619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Design and Implementation of an Adaptive E-Learning Platform Based on Quality of Experience for Inclusive Online Education in Low-Resource Settings</a:t>
            </a:r>
            <a:endParaRPr lang="en-US" sz="1100" dirty="0"/>
          </a:p>
          <a:p>
            <a:pPr marL="0" indent="0" algn="l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i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University of Buea · Faculty of Engineering &amp; Technology · Department of Computer Engineering</a:t>
            </a:r>
            <a:endParaRPr lang="en-US" sz="11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Course Instructor: Dr Nkemeni Valery · 15th 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029" y="424160"/>
            <a:ext cx="693613" cy="177850"/>
          </a:xfrm>
          <a:prstGeom prst="roundRect">
            <a:avLst>
              <a:gd name="adj" fmla="val 6726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97546" y="458763"/>
            <a:ext cx="1021779" cy="10864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60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INTRODUCTION</a:t>
            </a:r>
            <a:endParaRPr lang="en-US" sz="600" dirty="0"/>
          </a:p>
        </p:txBody>
      </p:sp>
      <p:sp>
        <p:nvSpPr>
          <p:cNvPr id="4" name="Text 2"/>
          <p:cNvSpPr/>
          <p:nvPr/>
        </p:nvSpPr>
        <p:spPr>
          <a:xfrm>
            <a:off x="1133029" y="629989"/>
            <a:ext cx="2949178" cy="31149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Overview</a:t>
            </a:r>
            <a:endParaRPr lang="en-US" sz="19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029" y="1125364"/>
            <a:ext cx="4385444" cy="2903562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6420" y="2169691"/>
            <a:ext cx="2249165" cy="81483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Learn Bridge is an adaptive e-learning platform for low-resource settings. The database, backend, and frontend work together as one system — the frontend displays the UI while the backend processes requests and communicates with the database.</a:t>
            </a:r>
            <a:endParaRPr lang="en-US" sz="750" dirty="0"/>
          </a:p>
        </p:txBody>
      </p:sp>
      <p:sp>
        <p:nvSpPr>
          <p:cNvPr id="7" name="Shape 4"/>
          <p:cNvSpPr/>
          <p:nvPr/>
        </p:nvSpPr>
        <p:spPr>
          <a:xfrm>
            <a:off x="1133029" y="4186535"/>
            <a:ext cx="1666949" cy="532805"/>
          </a:xfrm>
          <a:prstGeom prst="roundRect">
            <a:avLst>
              <a:gd name="adj" fmla="val 2806"/>
            </a:avLst>
          </a:prstGeom>
          <a:solidFill>
            <a:srgbClr val="3F4652"/>
          </a:solidFill>
        </p:spPr>
      </p:sp>
      <p:sp>
        <p:nvSpPr>
          <p:cNvPr id="8" name="Text 5"/>
          <p:cNvSpPr/>
          <p:nvPr/>
        </p:nvSpPr>
        <p:spPr>
          <a:xfrm>
            <a:off x="1232669" y="4286176"/>
            <a:ext cx="1245989" cy="1556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PostgreSQL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1232669" y="4483894"/>
            <a:ext cx="1467669" cy="1358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Relational database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2870002" y="4186535"/>
            <a:ext cx="1666949" cy="532805"/>
          </a:xfrm>
          <a:prstGeom prst="roundRect">
            <a:avLst>
              <a:gd name="adj" fmla="val 2806"/>
            </a:avLst>
          </a:prstGeom>
          <a:solidFill>
            <a:srgbClr val="3F4652"/>
          </a:solidFill>
        </p:spPr>
      </p:sp>
      <p:sp>
        <p:nvSpPr>
          <p:cNvPr id="11" name="Text 8"/>
          <p:cNvSpPr/>
          <p:nvPr/>
        </p:nvSpPr>
        <p:spPr>
          <a:xfrm>
            <a:off x="2969642" y="4286176"/>
            <a:ext cx="1245989" cy="1556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Prisma ORM</a:t>
            </a:r>
            <a:endParaRPr lang="en-US" sz="950" dirty="0"/>
          </a:p>
        </p:txBody>
      </p:sp>
      <p:sp>
        <p:nvSpPr>
          <p:cNvPr id="12" name="Text 9"/>
          <p:cNvSpPr/>
          <p:nvPr/>
        </p:nvSpPr>
        <p:spPr>
          <a:xfrm>
            <a:off x="2969642" y="4483894"/>
            <a:ext cx="1467669" cy="1358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Database access layer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4606975" y="4186535"/>
            <a:ext cx="1666949" cy="532805"/>
          </a:xfrm>
          <a:prstGeom prst="roundRect">
            <a:avLst>
              <a:gd name="adj" fmla="val 2806"/>
            </a:avLst>
          </a:prstGeom>
          <a:solidFill>
            <a:srgbClr val="3F4652"/>
          </a:solidFill>
        </p:spPr>
      </p:sp>
      <p:sp>
        <p:nvSpPr>
          <p:cNvPr id="14" name="Text 11"/>
          <p:cNvSpPr/>
          <p:nvPr/>
        </p:nvSpPr>
        <p:spPr>
          <a:xfrm>
            <a:off x="4706615" y="4286176"/>
            <a:ext cx="1245989" cy="1556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Node.js + Express</a:t>
            </a:r>
            <a:endParaRPr lang="en-US" sz="950" dirty="0"/>
          </a:p>
        </p:txBody>
      </p:sp>
      <p:sp>
        <p:nvSpPr>
          <p:cNvPr id="15" name="Text 12"/>
          <p:cNvSpPr/>
          <p:nvPr/>
        </p:nvSpPr>
        <p:spPr>
          <a:xfrm>
            <a:off x="4706615" y="4483894"/>
            <a:ext cx="1467669" cy="1358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Backend API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6343948" y="4186535"/>
            <a:ext cx="1666949" cy="532805"/>
          </a:xfrm>
          <a:prstGeom prst="roundRect">
            <a:avLst>
              <a:gd name="adj" fmla="val 2806"/>
            </a:avLst>
          </a:prstGeom>
          <a:solidFill>
            <a:srgbClr val="3F4652"/>
          </a:solidFill>
        </p:spPr>
      </p:sp>
      <p:sp>
        <p:nvSpPr>
          <p:cNvPr id="17" name="Text 14"/>
          <p:cNvSpPr/>
          <p:nvPr/>
        </p:nvSpPr>
        <p:spPr>
          <a:xfrm>
            <a:off x="6443588" y="4286176"/>
            <a:ext cx="1245989" cy="15567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JWT + bcryptjs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6443588" y="4483894"/>
            <a:ext cx="1467669" cy="13580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14000"/>
              </a:lnSpc>
              <a:buNone/>
            </a:pPr>
            <a:r>
              <a:rPr lang="en-US" sz="7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Auth &amp; hashing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870496"/>
            <a:ext cx="1051471" cy="275927"/>
          </a:xfrm>
          <a:prstGeom prst="roundRect">
            <a:avLst>
              <a:gd name="adj" fmla="val 6165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85936" y="917749"/>
            <a:ext cx="1329035" cy="18142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85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 ELEMENTS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496119" y="1203127"/>
            <a:ext cx="5461322" cy="442987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User, Course &amp; Lesson Entities</a:t>
            </a:r>
            <a:endParaRPr lang="en-US" sz="2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858714"/>
            <a:ext cx="2622724" cy="241429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56927" y="244480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6927" y="2751311"/>
            <a:ext cx="2301106" cy="136088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Stores all registered users — learner, instructor, parent, or admin. Fields: UserID, name, email (unique), hashed password, role, avatar URL, timestamps. Role determines system access.</a:t>
            </a:r>
            <a:endParaRPr lang="en-US" sz="1100" dirty="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260601" y="1858714"/>
            <a:ext cx="2622724" cy="241429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421410" y="244480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Course</a:t>
            </a:r>
            <a:endParaRPr lang="en-US" sz="1350" dirty="0"/>
          </a:p>
        </p:txBody>
      </p:sp>
      <p:sp>
        <p:nvSpPr>
          <p:cNvPr id="10" name="Text 6"/>
          <p:cNvSpPr/>
          <p:nvPr/>
        </p:nvSpPr>
        <p:spPr>
          <a:xfrm>
            <a:off x="3421410" y="2751311"/>
            <a:ext cx="2301106" cy="113407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Course details: CourseID, title, description, category, level, price, published status, instructor ID. Linked to lessons, quizzes, enrollments, and progress.</a:t>
            </a:r>
            <a:endParaRPr lang="en-US" sz="1100" dirty="0"/>
          </a:p>
        </p:txBody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25083" y="1858714"/>
            <a:ext cx="2622724" cy="241429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185892" y="2444800"/>
            <a:ext cx="1772022" cy="22145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Lesson</a:t>
            </a:r>
            <a:endParaRPr lang="en-US" sz="1350" dirty="0"/>
          </a:p>
        </p:txBody>
      </p:sp>
      <p:sp>
        <p:nvSpPr>
          <p:cNvPr id="13" name="Text 8"/>
          <p:cNvSpPr/>
          <p:nvPr/>
        </p:nvSpPr>
        <p:spPr>
          <a:xfrm>
            <a:off x="6185892" y="2751311"/>
            <a:ext cx="2301106" cy="90725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1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Learning content within a course: LessonID, title, content, video URL, order, duration, course ID. Order ensures correct content sequence.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438721" y="447601"/>
            <a:ext cx="677168" cy="159321"/>
          </a:xfrm>
          <a:prstGeom prst="roundRect">
            <a:avLst>
              <a:gd name="adj" fmla="val 6841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497955" y="479599"/>
            <a:ext cx="1015901" cy="9532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55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 ELEMENTS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438721" y="630138"/>
            <a:ext cx="4317057" cy="2837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Enrollment, Progress &amp; Quiz Entities</a:t>
            </a:r>
            <a:endParaRPr lang="en-US" sz="1750" dirty="0"/>
          </a:p>
        </p:txBody>
      </p:sp>
      <p:sp>
        <p:nvSpPr>
          <p:cNvPr id="5" name="Shape 3"/>
          <p:cNvSpPr/>
          <p:nvPr/>
        </p:nvSpPr>
        <p:spPr>
          <a:xfrm>
            <a:off x="1438721" y="1066502"/>
            <a:ext cx="2049289" cy="877193"/>
          </a:xfrm>
          <a:prstGeom prst="roundRect">
            <a:avLst>
              <a:gd name="adj" fmla="val 1553"/>
            </a:avLst>
          </a:prstGeom>
          <a:solidFill>
            <a:srgbClr val="202733"/>
          </a:solidFill>
          <a:ln w="9525">
            <a:solidFill>
              <a:srgbClr val="585F6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539032" y="1166813"/>
            <a:ext cx="1135187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Enrollment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1539032" y="1366838"/>
            <a:ext cx="1848669" cy="4765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Connects learners to courses (many-to-many). Fields: EnrollmentID, learner ID, course ID, enrolled date. Unique constraint on [learnerId, courseId] prevents duplicates.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1438721" y="2001813"/>
            <a:ext cx="2049289" cy="877193"/>
          </a:xfrm>
          <a:prstGeom prst="roundRect">
            <a:avLst>
              <a:gd name="adj" fmla="val 1553"/>
            </a:avLst>
          </a:prstGeom>
          <a:solidFill>
            <a:srgbClr val="202733"/>
          </a:solidFill>
          <a:ln w="9525">
            <a:solidFill>
              <a:srgbClr val="585F6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9032" y="2102123"/>
            <a:ext cx="1135187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Progress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1539032" y="2302148"/>
            <a:ext cx="1848669" cy="4765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Tracks lesson completion: ProgressID, learner ID, course ID, lesson ID, isCompleted, completedAt. Enables dashboard progress and learning percentage calculations.</a:t>
            </a:r>
            <a:endParaRPr lang="en-US" sz="700" dirty="0"/>
          </a:p>
        </p:txBody>
      </p:sp>
      <p:sp>
        <p:nvSpPr>
          <p:cNvPr id="11" name="Shape 9"/>
          <p:cNvSpPr/>
          <p:nvPr/>
        </p:nvSpPr>
        <p:spPr>
          <a:xfrm>
            <a:off x="1438721" y="2937123"/>
            <a:ext cx="2049289" cy="877193"/>
          </a:xfrm>
          <a:prstGeom prst="roundRect">
            <a:avLst>
              <a:gd name="adj" fmla="val 1553"/>
            </a:avLst>
          </a:prstGeom>
          <a:solidFill>
            <a:srgbClr val="202733"/>
          </a:solidFill>
          <a:ln w="9525">
            <a:solidFill>
              <a:srgbClr val="585F6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39032" y="3037433"/>
            <a:ext cx="1135187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Quiz &amp; Question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1539032" y="3237458"/>
            <a:ext cx="1848669" cy="47654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Quizzes attached to courses; questions store text, options (JSON), correct answer, points. Quiz results track scores, submitted answers, and timestamps.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1438721" y="3872433"/>
            <a:ext cx="2049289" cy="758056"/>
          </a:xfrm>
          <a:prstGeom prst="roundRect">
            <a:avLst>
              <a:gd name="adj" fmla="val 1797"/>
            </a:avLst>
          </a:prstGeom>
          <a:solidFill>
            <a:srgbClr val="202733"/>
          </a:solidFill>
          <a:ln w="9525">
            <a:solidFill>
              <a:srgbClr val="585F6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539032" y="3972744"/>
            <a:ext cx="1135187" cy="141908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Parent-Child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539032" y="4172769"/>
            <a:ext cx="1848669" cy="35741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9000"/>
              </a:lnSpc>
              <a:buNone/>
            </a:pPr>
            <a:r>
              <a:rPr lang="en-US" sz="7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Links parent accounts to child learner accounts, enabling parents to monitor learning progress.</a:t>
            </a:r>
            <a:endParaRPr lang="en-US" sz="7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714229" y="1612255"/>
            <a:ext cx="3995737" cy="247240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36066"/>
            <a:ext cx="1197471" cy="243185"/>
          </a:xfrm>
          <a:prstGeom prst="roundRect">
            <a:avLst>
              <a:gd name="adj" fmla="val 6340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7900" y="479301"/>
            <a:ext cx="1491109" cy="1567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CONCEPTUAL DESIGN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725760"/>
            <a:ext cx="3669060" cy="401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System Layers</a:t>
            </a:r>
            <a:endParaRPr lang="en-US" sz="2500" dirty="0"/>
          </a:p>
        </p:txBody>
      </p:sp>
      <p:sp>
        <p:nvSpPr>
          <p:cNvPr id="5" name="Text 3"/>
          <p:cNvSpPr/>
          <p:nvPr/>
        </p:nvSpPr>
        <p:spPr>
          <a:xfrm>
            <a:off x="496119" y="1301800"/>
            <a:ext cx="8608963" cy="195932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conceptual design defines the high-level structure, identifying main entities and relationships before implementation details.</a:t>
            </a:r>
            <a:endParaRPr lang="en-US" sz="1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28701"/>
            <a:ext cx="321171" cy="32117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96119" y="2095351"/>
            <a:ext cx="1605930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Institutional Layer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496119" y="2365846"/>
            <a:ext cx="2620268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School, School Administrator, Parent — oversight, accountability, and supervision.</a:t>
            </a:r>
            <a:endParaRPr lang="en-US" sz="10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1866" y="1628701"/>
            <a:ext cx="321171" cy="32117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261866" y="2095351"/>
            <a:ext cx="1605930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User Layer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3261866" y="2365846"/>
            <a:ext cx="2620268" cy="391864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User generalized into Student and Instructor with role-based access control.</a:t>
            </a:r>
            <a:endParaRPr lang="en-US" sz="10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27613" y="1628701"/>
            <a:ext cx="321171" cy="32117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27613" y="2095351"/>
            <a:ext cx="1780729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Learning Process Layer</a:t>
            </a:r>
            <a:endParaRPr lang="en-US" sz="1250" dirty="0"/>
          </a:p>
        </p:txBody>
      </p:sp>
      <p:sp>
        <p:nvSpPr>
          <p:cNvPr id="14" name="Text 9"/>
          <p:cNvSpPr/>
          <p:nvPr/>
        </p:nvSpPr>
        <p:spPr>
          <a:xfrm>
            <a:off x="6027613" y="2365846"/>
            <a:ext cx="2620268" cy="5877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Course, Enrollment, Learning Content, Offline Content, Live Session — multimedia, offline access, live interaction.</a:t>
            </a:r>
            <a:endParaRPr lang="en-US" sz="1000" dirty="0"/>
          </a:p>
        </p:txBody>
      </p:sp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186485"/>
            <a:ext cx="321171" cy="32117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496119" y="3653135"/>
            <a:ext cx="2224608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Assessment &amp; Progress Layer</a:t>
            </a:r>
            <a:endParaRPr lang="en-US" sz="1250" dirty="0"/>
          </a:p>
        </p:txBody>
      </p:sp>
      <p:sp>
        <p:nvSpPr>
          <p:cNvPr id="17" name="Text 11"/>
          <p:cNvSpPr/>
          <p:nvPr/>
        </p:nvSpPr>
        <p:spPr>
          <a:xfrm>
            <a:off x="496119" y="3923630"/>
            <a:ext cx="2620268" cy="5877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Assessment, Results, Learner Progress, Attendance, Instructor Feedback — quizzes and parental monitoring.</a:t>
            </a:r>
            <a:endParaRPr lang="en-US" sz="1000" dirty="0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1866" y="3186485"/>
            <a:ext cx="321171" cy="32117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3261866" y="3653135"/>
            <a:ext cx="1943546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Quality &amp; Reporting Layer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3261866" y="3923630"/>
            <a:ext cx="2620268" cy="78372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Network QoE monitors connectivity; Reports provide attendance, progress, and performance analytics for parents and admins.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96119" y="402506"/>
            <a:ext cx="763712" cy="243185"/>
          </a:xfrm>
          <a:prstGeom prst="roundRect">
            <a:avLst>
              <a:gd name="adj" fmla="val 6340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77900" y="445740"/>
            <a:ext cx="1057349" cy="156716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7000"/>
              </a:lnSpc>
              <a:buNone/>
            </a:pPr>
            <a:r>
              <a:rPr lang="en-US" sz="80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ER DIAGRAM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96119" y="692200"/>
            <a:ext cx="4305151" cy="40146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Logical Database Schema</a:t>
            </a:r>
            <a:endParaRPr lang="en-US" sz="25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6119" y="1399208"/>
            <a:ext cx="5188893" cy="321074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03206" y="1626840"/>
            <a:ext cx="2063130" cy="2006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Entity Groups</a:t>
            </a:r>
            <a:endParaRPr lang="en-US" sz="1250" dirty="0"/>
          </a:p>
        </p:txBody>
      </p:sp>
      <p:sp>
        <p:nvSpPr>
          <p:cNvPr id="7" name="Text 4"/>
          <p:cNvSpPr/>
          <p:nvPr/>
        </p:nvSpPr>
        <p:spPr>
          <a:xfrm>
            <a:off x="6003206" y="1943919"/>
            <a:ext cx="2649364" cy="2514005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Institutional:</a:t>
            </a: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School → School Administrator → Report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Users:</a:t>
            </a: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User (Student / Instructor) with role-based access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Learning:</a:t>
            </a: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Course → Enrollment → Learning Content → Offline Content → Live Session → Chat Message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Assessment:</a:t>
            </a: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Assessment → Question → Answer Result → Learning Progress → Report</a:t>
            </a:r>
            <a:endParaRPr lang="en-US" sz="1000" dirty="0"/>
          </a:p>
          <a:p>
            <a:pPr marL="342900" indent="-342900" algn="l">
              <a:lnSpc>
                <a:spcPct val="127000"/>
              </a:lnSpc>
              <a:buSzPct val="100000"/>
              <a:buChar char="•"/>
            </a:pPr>
            <a:r>
              <a:rPr lang="en-US" sz="10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Quality:</a:t>
            </a:r>
            <a:r>
              <a:rPr lang="en-US" sz="10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NetworkQoC monitors bandwidth, latency, packet loss for adaptive delivery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412700"/>
            <a:ext cx="1396975" cy="212154"/>
          </a:xfrm>
          <a:prstGeom prst="roundRect">
            <a:avLst>
              <a:gd name="adj" fmla="val 6515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1885" y="451991"/>
            <a:ext cx="1706538" cy="133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DATABASE IMPLEMENTATION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662285"/>
            <a:ext cx="4137868" cy="359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PostgreSQL &amp; Prisma Setup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066" y="1267792"/>
            <a:ext cx="5067672" cy="335771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1488" y="1258937"/>
            <a:ext cx="1896963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Database Creation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51488" y="1532409"/>
            <a:ext cx="2599060" cy="6869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 database named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learnbridge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was created in PostgreSQL. The backend connects via a connection string in the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.env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file (host: localhost, port: 5432).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951488" y="2312938"/>
            <a:ext cx="1896963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Key Constraints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951488" y="2586410"/>
            <a:ext cx="2599060" cy="1462683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email String @unique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prevents duplicate emails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@@unique([learnerId, courseId])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prevents duplicate enrollments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@@unique([learnerId, lessonId])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one progress record per lesson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Cascade delete on course → lessons for consistency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5951488" y="4133255"/>
            <a:ext cx="2599060" cy="51048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Tables created via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npx prisma migrate dev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 Seed file populated test accounts, a sample course, lessons, quiz, and enrollment.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515145" y="424235"/>
            <a:ext cx="1049164" cy="154781"/>
          </a:xfrm>
          <a:prstGeom prst="roundRect">
            <a:avLst>
              <a:gd name="adj" fmla="val 6869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573039" y="455563"/>
            <a:ext cx="1390576" cy="9212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55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BACKEND IMPLEMENTATION</a:t>
            </a:r>
            <a:endParaRPr lang="en-US" sz="550" dirty="0"/>
          </a:p>
        </p:txBody>
      </p:sp>
      <p:sp>
        <p:nvSpPr>
          <p:cNvPr id="4" name="Text 2"/>
          <p:cNvSpPr/>
          <p:nvPr/>
        </p:nvSpPr>
        <p:spPr>
          <a:xfrm>
            <a:off x="1515145" y="601117"/>
            <a:ext cx="2717006" cy="276895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7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Node.js + Express API</a:t>
            </a:r>
            <a:endParaRPr lang="en-US" sz="17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886373" y="1023342"/>
            <a:ext cx="1155725" cy="258819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634261" y="1623715"/>
            <a:ext cx="1564704" cy="138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Folder Structure</a:t>
            </a:r>
            <a:endParaRPr lang="en-US" sz="850" dirty="0"/>
          </a:p>
        </p:txBody>
      </p:sp>
      <p:sp>
        <p:nvSpPr>
          <p:cNvPr id="7" name="Text 4"/>
          <p:cNvSpPr/>
          <p:nvPr/>
        </p:nvSpPr>
        <p:spPr>
          <a:xfrm>
            <a:off x="5634261" y="1817489"/>
            <a:ext cx="1999283" cy="479822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Organised into </a:t>
            </a:r>
            <a:r>
              <a:rPr lang="en-US" sz="65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routes</a:t>
            </a: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(endpoints), </a:t>
            </a:r>
            <a:r>
              <a:rPr lang="en-US" sz="65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controllers</a:t>
            </a: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(business logic), </a:t>
            </a:r>
            <a:r>
              <a:rPr lang="en-US" sz="65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middleware</a:t>
            </a: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(auth), and </a:t>
            </a:r>
            <a:r>
              <a:rPr lang="en-US" sz="65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lib/prisma.js</a:t>
            </a: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(DB connection). Server runs on </a:t>
            </a:r>
            <a:r>
              <a:rPr lang="en-US" sz="65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http://localhost:5000</a:t>
            </a: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</a:t>
            </a:r>
            <a:endParaRPr lang="en-US" sz="650" dirty="0"/>
          </a:p>
        </p:txBody>
      </p:sp>
      <p:sp>
        <p:nvSpPr>
          <p:cNvPr id="8" name="Text 5"/>
          <p:cNvSpPr/>
          <p:nvPr/>
        </p:nvSpPr>
        <p:spPr>
          <a:xfrm>
            <a:off x="5634261" y="2352675"/>
            <a:ext cx="1564704" cy="138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Authentication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5634261" y="2546449"/>
            <a:ext cx="1999283" cy="470297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Passwords hashed with </a:t>
            </a:r>
            <a:r>
              <a:rPr lang="en-US" sz="65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bcryptjs</a:t>
            </a: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(12 rounds). On login, JWT token issued (expires 7 days). Frontend sends </a:t>
            </a:r>
            <a:r>
              <a:rPr lang="en-US" sz="65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Authorization: Bearer token</a:t>
            </a: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on protected routes.</a:t>
            </a:r>
            <a:endParaRPr lang="en-US" sz="650" dirty="0"/>
          </a:p>
        </p:txBody>
      </p:sp>
      <p:sp>
        <p:nvSpPr>
          <p:cNvPr id="10" name="Shape 7"/>
          <p:cNvSpPr/>
          <p:nvPr/>
        </p:nvSpPr>
        <p:spPr>
          <a:xfrm>
            <a:off x="1515145" y="3736107"/>
            <a:ext cx="2000994" cy="463897"/>
          </a:xfrm>
          <a:prstGeom prst="roundRect">
            <a:avLst>
              <a:gd name="adj" fmla="val 2865"/>
            </a:avLst>
          </a:prstGeom>
          <a:solidFill>
            <a:srgbClr val="3F4652"/>
          </a:solidFill>
        </p:spPr>
      </p:sp>
      <p:sp>
        <p:nvSpPr>
          <p:cNvPr id="11" name="Text 8"/>
          <p:cNvSpPr/>
          <p:nvPr/>
        </p:nvSpPr>
        <p:spPr>
          <a:xfrm>
            <a:off x="1603697" y="3824660"/>
            <a:ext cx="1107504" cy="138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 Routes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1603697" y="3996258"/>
            <a:ext cx="1823889" cy="115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POST /register, /login · GET /me</a:t>
            </a:r>
            <a:endParaRPr lang="en-US" sz="650" dirty="0"/>
          </a:p>
        </p:txBody>
      </p:sp>
      <p:sp>
        <p:nvSpPr>
          <p:cNvPr id="13" name="Shape 10"/>
          <p:cNvSpPr/>
          <p:nvPr/>
        </p:nvSpPr>
        <p:spPr>
          <a:xfrm>
            <a:off x="3571503" y="3736107"/>
            <a:ext cx="2000994" cy="463897"/>
          </a:xfrm>
          <a:prstGeom prst="roundRect">
            <a:avLst>
              <a:gd name="adj" fmla="val 2865"/>
            </a:avLst>
          </a:prstGeom>
          <a:solidFill>
            <a:srgbClr val="3F4652"/>
          </a:solidFill>
        </p:spPr>
      </p:sp>
      <p:sp>
        <p:nvSpPr>
          <p:cNvPr id="14" name="Text 11"/>
          <p:cNvSpPr/>
          <p:nvPr/>
        </p:nvSpPr>
        <p:spPr>
          <a:xfrm>
            <a:off x="3660056" y="3824660"/>
            <a:ext cx="1107504" cy="138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Course Routes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3660056" y="3996258"/>
            <a:ext cx="1823889" cy="115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GET /courses · POST /:id/enroll</a:t>
            </a:r>
            <a:endParaRPr lang="en-US" sz="650" dirty="0"/>
          </a:p>
        </p:txBody>
      </p:sp>
      <p:sp>
        <p:nvSpPr>
          <p:cNvPr id="16" name="Shape 13"/>
          <p:cNvSpPr/>
          <p:nvPr/>
        </p:nvSpPr>
        <p:spPr>
          <a:xfrm>
            <a:off x="5627861" y="3736107"/>
            <a:ext cx="2000994" cy="463897"/>
          </a:xfrm>
          <a:prstGeom prst="roundRect">
            <a:avLst>
              <a:gd name="adj" fmla="val 2865"/>
            </a:avLst>
          </a:prstGeom>
          <a:solidFill>
            <a:srgbClr val="3F4652"/>
          </a:solidFill>
        </p:spPr>
      </p:sp>
      <p:sp>
        <p:nvSpPr>
          <p:cNvPr id="17" name="Text 14"/>
          <p:cNvSpPr/>
          <p:nvPr/>
        </p:nvSpPr>
        <p:spPr>
          <a:xfrm>
            <a:off x="5716414" y="3824660"/>
            <a:ext cx="1107504" cy="138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Lesson Routes</a:t>
            </a:r>
            <a:endParaRPr lang="en-US" sz="850" dirty="0"/>
          </a:p>
        </p:txBody>
      </p:sp>
      <p:sp>
        <p:nvSpPr>
          <p:cNvPr id="18" name="Text 15"/>
          <p:cNvSpPr/>
          <p:nvPr/>
        </p:nvSpPr>
        <p:spPr>
          <a:xfrm>
            <a:off x="5716414" y="3996258"/>
            <a:ext cx="1823889" cy="115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GET /:id · POST /:id/complete</a:t>
            </a:r>
            <a:endParaRPr lang="en-US" sz="650" dirty="0"/>
          </a:p>
        </p:txBody>
      </p:sp>
      <p:sp>
        <p:nvSpPr>
          <p:cNvPr id="19" name="Shape 16"/>
          <p:cNvSpPr/>
          <p:nvPr/>
        </p:nvSpPr>
        <p:spPr>
          <a:xfrm>
            <a:off x="1515145" y="4255368"/>
            <a:ext cx="3029173" cy="463897"/>
          </a:xfrm>
          <a:prstGeom prst="roundRect">
            <a:avLst>
              <a:gd name="adj" fmla="val 2865"/>
            </a:avLst>
          </a:prstGeom>
          <a:solidFill>
            <a:srgbClr val="3F4652"/>
          </a:solidFill>
        </p:spPr>
      </p:sp>
      <p:sp>
        <p:nvSpPr>
          <p:cNvPr id="20" name="Text 17"/>
          <p:cNvSpPr/>
          <p:nvPr/>
        </p:nvSpPr>
        <p:spPr>
          <a:xfrm>
            <a:off x="1603697" y="4343921"/>
            <a:ext cx="1107504" cy="138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Quiz Routes</a:t>
            </a:r>
            <a:endParaRPr lang="en-US" sz="850" dirty="0"/>
          </a:p>
        </p:txBody>
      </p:sp>
      <p:sp>
        <p:nvSpPr>
          <p:cNvPr id="21" name="Text 18"/>
          <p:cNvSpPr/>
          <p:nvPr/>
        </p:nvSpPr>
        <p:spPr>
          <a:xfrm>
            <a:off x="1603697" y="4515520"/>
            <a:ext cx="2852068" cy="115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GET /:id · POST /:id/submit</a:t>
            </a:r>
            <a:endParaRPr lang="en-US" sz="650" dirty="0"/>
          </a:p>
        </p:txBody>
      </p:sp>
      <p:sp>
        <p:nvSpPr>
          <p:cNvPr id="22" name="Shape 19"/>
          <p:cNvSpPr/>
          <p:nvPr/>
        </p:nvSpPr>
        <p:spPr>
          <a:xfrm>
            <a:off x="4599682" y="4255368"/>
            <a:ext cx="3029173" cy="463897"/>
          </a:xfrm>
          <a:prstGeom prst="roundRect">
            <a:avLst>
              <a:gd name="adj" fmla="val 2865"/>
            </a:avLst>
          </a:prstGeom>
          <a:solidFill>
            <a:srgbClr val="3F4652"/>
          </a:solidFill>
        </p:spPr>
      </p:sp>
      <p:sp>
        <p:nvSpPr>
          <p:cNvPr id="23" name="Text 20"/>
          <p:cNvSpPr/>
          <p:nvPr/>
        </p:nvSpPr>
        <p:spPr>
          <a:xfrm>
            <a:off x="4688235" y="4343921"/>
            <a:ext cx="1107504" cy="138410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8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Dashboard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4688235" y="4515520"/>
            <a:ext cx="2852068" cy="11519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65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GET /dashboard/learner</a:t>
            </a:r>
            <a:endParaRPr lang="en-US" sz="6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8066" y="409203"/>
            <a:ext cx="517922" cy="212154"/>
          </a:xfrm>
          <a:prstGeom prst="roundRect">
            <a:avLst>
              <a:gd name="adj" fmla="val 6515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71885" y="448494"/>
            <a:ext cx="827484" cy="13357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70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TESTING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98066" y="658788"/>
            <a:ext cx="3336801" cy="35994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API Testing Results</a:t>
            </a:r>
            <a:endParaRPr lang="en-US" sz="22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8499" y="1264295"/>
            <a:ext cx="4326806" cy="3364781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951488" y="1391989"/>
            <a:ext cx="1896963" cy="179933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Tests Performed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951488" y="1665461"/>
            <a:ext cx="2599060" cy="1806178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Health Check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/api/health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returned success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Login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POST /api/auth/login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returned JWT token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Courses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/api/courses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returned published courses with instructor, lessons, and enrollment counts</a:t>
            </a:r>
            <a:endParaRPr lang="en-US" sz="900" dirty="0"/>
          </a:p>
          <a:p>
            <a:pPr marL="342900" indent="-342900" algn="l">
              <a:lnSpc>
                <a:spcPct val="121000"/>
              </a:lnSpc>
              <a:buSzPct val="100000"/>
              <a:buChar char="•"/>
            </a:pPr>
            <a:r>
              <a:rPr lang="en-US" sz="900" b="1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Dashboard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—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GET /api/dashboard/learner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returned total courses, lessons, completed lessons, progress %, and recent quiz results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5951488" y="3576861"/>
            <a:ext cx="2599060" cy="912763"/>
          </a:xfrm>
          <a:prstGeom prst="roundRect">
            <a:avLst>
              <a:gd name="adj" fmla="val 1893"/>
            </a:avLst>
          </a:prstGeom>
          <a:solidFill>
            <a:srgbClr val="022349"/>
          </a:solidFill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6606" y="3739009"/>
            <a:ext cx="143917" cy="115119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325642" y="3689747"/>
            <a:ext cx="2109788" cy="68699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All routes required </a:t>
            </a:r>
            <a:r>
              <a:rPr lang="en-US" sz="900" dirty="0">
                <a:solidFill>
                  <a:srgbClr val="FFFFF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Authorization: Bearer token</a:t>
            </a:r>
            <a:r>
              <a:rPr lang="en-US" sz="900" dirty="0">
                <a:solidFill>
                  <a:srgbClr val="FFFFF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header. The dashboard test confirmed correct data aggregation from the database.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21643" y="416719"/>
            <a:ext cx="726132" cy="217215"/>
          </a:xfrm>
          <a:prstGeom prst="roundRect">
            <a:avLst>
              <a:gd name="adj" fmla="val 6486"/>
            </a:avLst>
          </a:prstGeom>
          <a:noFill/>
          <a:ln w="4763">
            <a:solidFill>
              <a:srgbClr val="66A8E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6801" y="456679"/>
            <a:ext cx="1033016" cy="137294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700" dirty="0">
                <a:solidFill>
                  <a:srgbClr val="66A8EE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CONCLUSION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521643" y="672778"/>
            <a:ext cx="3868862" cy="36686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30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&amp; Conclusion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21643" y="1282601"/>
            <a:ext cx="2139181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76B9F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Challenges Encountered</a:t>
            </a:r>
            <a:endParaRPr lang="en-US" sz="115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07355" y="1575346"/>
            <a:ext cx="3921398" cy="89200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96144" y="1706984"/>
            <a:ext cx="1625947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PostgreSQL Installation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696144" y="1987600"/>
            <a:ext cx="3600971" cy="348109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Initially not installed; resolved by installing PostgreSQL and creating the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learnbridge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database.</a:t>
            </a:r>
            <a:endParaRPr lang="en-US" sz="900" dirty="0"/>
          </a:p>
        </p:txBody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07355" y="2564532"/>
            <a:ext cx="3921398" cy="105891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96144" y="2696170"/>
            <a:ext cx="1490662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Prisma Configuration</a:t>
            </a:r>
            <a:endParaRPr lang="en-US" sz="1150" dirty="0"/>
          </a:p>
        </p:txBody>
      </p:sp>
      <p:sp>
        <p:nvSpPr>
          <p:cNvPr id="11" name="Text 7"/>
          <p:cNvSpPr/>
          <p:nvPr/>
        </p:nvSpPr>
        <p:spPr>
          <a:xfrm>
            <a:off x="696144" y="2976786"/>
            <a:ext cx="3600971" cy="515020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Errors when Prisma could not find the database URL or schema file. Fixed by setting the connection correctly and running commands from the backend directory.</a:t>
            </a:r>
            <a:endParaRPr lang="en-US" sz="900" dirty="0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07355" y="3720629"/>
            <a:ext cx="3921398" cy="89676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96144" y="3852267"/>
            <a:ext cx="1467445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D6E5EF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Auth Header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696144" y="4132883"/>
            <a:ext cx="3600971" cy="352871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Protected routes required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Authorization: Bearer token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. Missing </a:t>
            </a:r>
            <a:r>
              <a:rPr lang="en-US" sz="900" dirty="0">
                <a:solidFill>
                  <a:srgbClr val="D6E5EF"/>
                </a:solidFill>
                <a:highlight>
                  <a:srgbClr val="2D3440"/>
                </a:highlight>
                <a:latin typeface="Consolas" panose="020B0609020204030204" pitchFamily="34" charset="0"/>
                <a:ea typeface="Consolas" panose="020B0609020204030204" pitchFamily="34" charset="-122"/>
                <a:cs typeface="Consolas" panose="020B0609020204030204" pitchFamily="34" charset="-120"/>
              </a:rPr>
              <a:t>Bearer</a:t>
            </a:r>
            <a:r>
              <a:rPr lang="en-US" sz="900" dirty="0">
                <a:solidFill>
                  <a:srgbClr val="D6E5EF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 prefix caused unauthorised errors.</a:t>
            </a:r>
            <a:endParaRPr lang="en-US" sz="900" dirty="0"/>
          </a:p>
        </p:txBody>
      </p:sp>
      <p:sp>
        <p:nvSpPr>
          <p:cNvPr id="15" name="Shape 10"/>
          <p:cNvSpPr/>
          <p:nvPr/>
        </p:nvSpPr>
        <p:spPr>
          <a:xfrm>
            <a:off x="4635326" y="1185416"/>
            <a:ext cx="4076179" cy="3541291"/>
          </a:xfrm>
          <a:prstGeom prst="roundRect">
            <a:avLst>
              <a:gd name="adj" fmla="val 497"/>
            </a:avLst>
          </a:prstGeom>
          <a:solidFill>
            <a:srgbClr val="66A8EE"/>
          </a:solidFill>
        </p:spPr>
      </p:sp>
      <p:sp>
        <p:nvSpPr>
          <p:cNvPr id="16" name="Text 11"/>
          <p:cNvSpPr/>
          <p:nvPr/>
        </p:nvSpPr>
        <p:spPr>
          <a:xfrm>
            <a:off x="4752677" y="1282601"/>
            <a:ext cx="1924645" cy="183431"/>
          </a:xfrm>
          <a:prstGeom prst="rect">
            <a:avLst/>
          </a:prstGeom>
          <a:noFill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Roboto Slab" pitchFamily="34" charset="0"/>
                <a:ea typeface="Roboto Slab" pitchFamily="34" charset="-122"/>
                <a:cs typeface="Roboto Slab" pitchFamily="34" charset="-120"/>
              </a:rPr>
              <a:t>Conclusion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4752677" y="1563216"/>
            <a:ext cx="3841477" cy="1117476"/>
          </a:xfrm>
          <a:prstGeom prst="rect">
            <a:avLst/>
          </a:prstGeom>
          <a:noFill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spcAft>
                <a:spcPts val="650"/>
              </a:spcAft>
              <a:buNone/>
            </a:pPr>
            <a:r>
              <a:rPr lang="en-US" sz="9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The LearnBridge database design and implementation successfully provides a structured, relational system for managing users, courses, lessons, enrollments, progress, quizzes, and results.</a:t>
            </a:r>
            <a:endParaRPr lang="en-US" sz="900" dirty="0"/>
          </a:p>
          <a:p>
            <a:pPr marL="0" indent="0" algn="l">
              <a:lnSpc>
                <a:spcPct val="122000"/>
              </a:lnSpc>
              <a:buNone/>
            </a:pPr>
            <a:r>
              <a:rPr lang="en-US" sz="900" dirty="0">
                <a:solidFill>
                  <a:srgbClr val="000000"/>
                </a:solidFill>
                <a:latin typeface="Roboto" panose="02000000000000000000" pitchFamily="34" charset="0"/>
                <a:ea typeface="Roboto" panose="02000000000000000000" pitchFamily="34" charset="-122"/>
                <a:cs typeface="Roboto" panose="02000000000000000000" pitchFamily="34" charset="-120"/>
              </a:rPr>
              <a:t>PostgreSQL, Prisma ORM, and Express.js were integrated effectively. The backend connects to the database via Prisma Client, and all API routes were tested and verified.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5600</Words>
  <Application>WPS Presentation</Application>
  <PresentationFormat>On-screen Show (16:9)</PresentationFormat>
  <Paragraphs>189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6" baseType="lpstr">
      <vt:lpstr>Arial</vt:lpstr>
      <vt:lpstr>SimSun</vt:lpstr>
      <vt:lpstr>Wingdings</vt:lpstr>
      <vt:lpstr>Roboto</vt:lpstr>
      <vt:lpstr>Roboto</vt:lpstr>
      <vt:lpstr>Roboto</vt:lpstr>
      <vt:lpstr>Roboto Slab</vt:lpstr>
      <vt:lpstr>Roboto Slab</vt:lpstr>
      <vt:lpstr>Roboto Slab</vt:lpstr>
      <vt:lpstr>Consolas</vt:lpstr>
      <vt:lpstr>Consolas</vt:lpstr>
      <vt:lpstr>Consolas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THINKBIG MULTIMEDIA</cp:lastModifiedBy>
  <cp:revision>2</cp:revision>
  <dcterms:created xsi:type="dcterms:W3CDTF">2026-06-16T00:16:00Z</dcterms:created>
  <dcterms:modified xsi:type="dcterms:W3CDTF">2026-06-16T00:19:09Z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803825570FAD4DD2BF08231494AA8C81_13</vt:lpwstr>
  </property>
  <property fmtid="{D5CDD505-2E9C-101B-9397-08002B2CF9AE}" pid="3" name="KSOProductBuildVer">
    <vt:lpwstr>1033-12.1.0.26880</vt:lpwstr>
  </property>
</Properties>
</file>