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47" d="100"/>
          <a:sy n="47" d="100"/>
        </p:scale>
        <p:origin x="2064" y="6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4/6/2026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A07C0-4256-4DC2-060F-4F6EA286FF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1628549"/>
            <a:ext cx="8791575" cy="2387600"/>
          </a:xfrm>
        </p:spPr>
        <p:txBody>
          <a:bodyPr>
            <a:noAutofit/>
          </a:bodyPr>
          <a:lstStyle/>
          <a:p>
            <a:r>
              <a:rPr lang="en-GB" sz="6000" dirty="0"/>
              <a:t>CEF 440: INTERNET PROGRAMMING AND MOBILE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706DC6-BD73-3699-9037-A251069A63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21352" y="4255180"/>
            <a:ext cx="8791575" cy="1655762"/>
          </a:xfrm>
        </p:spPr>
        <p:txBody>
          <a:bodyPr/>
          <a:lstStyle/>
          <a:p>
            <a:r>
              <a:rPr lang="en-GB" sz="3200" dirty="0"/>
              <a:t>GROUP 15</a:t>
            </a:r>
          </a:p>
          <a:p>
            <a:r>
              <a:rPr lang="en-GB" sz="3200" dirty="0"/>
              <a:t>Task 1: Mobile App Development Process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187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BD4C1-36CF-1E67-CA94-4EF1EC6F7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61318"/>
            <a:ext cx="9905998" cy="1478570"/>
          </a:xfrm>
        </p:spPr>
        <p:txBody>
          <a:bodyPr>
            <a:normAutofit/>
          </a:bodyPr>
          <a:lstStyle/>
          <a:p>
            <a:r>
              <a:rPr lang="en-GB" sz="8000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8155B-7BFC-30E9-C915-CEBAC7C55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658143"/>
            <a:ext cx="9905999" cy="3541714"/>
          </a:xfrm>
        </p:spPr>
        <p:txBody>
          <a:bodyPr>
            <a:noAutofit/>
          </a:bodyPr>
          <a:lstStyle/>
          <a:p>
            <a:r>
              <a:rPr lang="en-GB" sz="3600" dirty="0"/>
              <a:t>Types of Mobile applications</a:t>
            </a:r>
          </a:p>
          <a:p>
            <a:r>
              <a:rPr lang="en-GB" sz="3600" dirty="0"/>
              <a:t>Mobile apps programming languages</a:t>
            </a:r>
          </a:p>
          <a:p>
            <a:r>
              <a:rPr lang="en-GB" sz="3600" dirty="0"/>
              <a:t>Mobile app development frameworks</a:t>
            </a:r>
          </a:p>
          <a:p>
            <a:r>
              <a:rPr lang="en-GB" sz="3600" dirty="0"/>
              <a:t>Mobile app architectures and design patterns</a:t>
            </a:r>
          </a:p>
          <a:p>
            <a:r>
              <a:rPr lang="en-GB" sz="3600" dirty="0"/>
              <a:t>Requirement engineering process</a:t>
            </a:r>
          </a:p>
          <a:p>
            <a:r>
              <a:rPr lang="en-GB" sz="3600" dirty="0"/>
              <a:t>Mobile app development cost estimation</a:t>
            </a:r>
          </a:p>
        </p:txBody>
      </p:sp>
    </p:spTree>
    <p:extLst>
      <p:ext uri="{BB962C8B-B14F-4D97-AF65-F5344CB8AC3E}">
        <p14:creationId xmlns:p14="http://schemas.microsoft.com/office/powerpoint/2010/main" val="2961907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D0201-74B1-B945-84B9-B8009C0A1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7200" dirty="0"/>
              <a:t>Types of mobile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9C4C7-93ED-3B6C-65A8-6AD6408E7B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2041" y="2697768"/>
            <a:ext cx="9905999" cy="3541714"/>
          </a:xfrm>
        </p:spPr>
        <p:txBody>
          <a:bodyPr>
            <a:noAutofit/>
          </a:bodyPr>
          <a:lstStyle/>
          <a:p>
            <a:r>
              <a:rPr lang="en-GB" sz="4000" dirty="0"/>
              <a:t>Native mobile apps</a:t>
            </a:r>
          </a:p>
          <a:p>
            <a:r>
              <a:rPr lang="en-GB" sz="4000" dirty="0"/>
              <a:t>Progressive web apps</a:t>
            </a:r>
          </a:p>
          <a:p>
            <a:r>
              <a:rPr lang="en-GB" sz="4000" dirty="0"/>
              <a:t>Hybrid apps</a:t>
            </a:r>
          </a:p>
        </p:txBody>
      </p:sp>
    </p:spTree>
    <p:extLst>
      <p:ext uri="{BB962C8B-B14F-4D97-AF65-F5344CB8AC3E}">
        <p14:creationId xmlns:p14="http://schemas.microsoft.com/office/powerpoint/2010/main" val="2076561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FCBE5-194F-5763-0323-8286E06CD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Native mobile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1C9B6B-4B4C-E2C5-379D-FE24EEB5D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96584"/>
            <a:ext cx="9905999" cy="3541714"/>
          </a:xfrm>
        </p:spPr>
        <p:txBody>
          <a:bodyPr>
            <a:normAutofit/>
          </a:bodyPr>
          <a:lstStyle/>
          <a:p>
            <a:r>
              <a:rPr lang="en-GB" sz="4000" dirty="0"/>
              <a:t>What is a native app?</a:t>
            </a:r>
          </a:p>
          <a:p>
            <a:r>
              <a:rPr lang="en-GB" sz="4000" dirty="0"/>
              <a:t>Characteristics</a:t>
            </a:r>
          </a:p>
          <a:p>
            <a:r>
              <a:rPr lang="en-GB" sz="4000" dirty="0"/>
              <a:t>Advantages of native apps</a:t>
            </a:r>
          </a:p>
          <a:p>
            <a:r>
              <a:rPr lang="en-GB" sz="4000" dirty="0"/>
              <a:t>Disadvantages of native apps</a:t>
            </a:r>
          </a:p>
        </p:txBody>
      </p:sp>
    </p:spTree>
    <p:extLst>
      <p:ext uri="{BB962C8B-B14F-4D97-AF65-F5344CB8AC3E}">
        <p14:creationId xmlns:p14="http://schemas.microsoft.com/office/powerpoint/2010/main" val="408824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A9FCA-2902-E16D-72F2-86B0CAD45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PROGRESSIVE WEB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376CC-E9D5-ABA5-D617-487DA846DE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What is a native app?</a:t>
            </a:r>
          </a:p>
          <a:p>
            <a:r>
              <a:rPr lang="en-GB" sz="4000" dirty="0"/>
              <a:t>Characteristics</a:t>
            </a:r>
          </a:p>
          <a:p>
            <a:r>
              <a:rPr lang="en-GB" sz="4000" dirty="0"/>
              <a:t>Advantages of native apps</a:t>
            </a:r>
          </a:p>
          <a:p>
            <a:r>
              <a:rPr lang="en-GB" sz="4000" dirty="0"/>
              <a:t>Disadvantages of native apps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4163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8BF94-982A-054D-D0E0-D25CB56C1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HYBRID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E909C-8218-52CD-568C-8DDA3F5A3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What is a native app?</a:t>
            </a:r>
          </a:p>
          <a:p>
            <a:r>
              <a:rPr lang="en-GB" sz="4000" dirty="0"/>
              <a:t>Characteristics</a:t>
            </a:r>
          </a:p>
          <a:p>
            <a:r>
              <a:rPr lang="en-GB" sz="4000" dirty="0"/>
              <a:t>Advantages of native apps</a:t>
            </a:r>
          </a:p>
          <a:p>
            <a:r>
              <a:rPr lang="en-GB" sz="4000" dirty="0"/>
              <a:t>Disadvantages of native apps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48698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7ED5-1A18-35C6-7DE9-F294AA40D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6000" dirty="0"/>
              <a:t>NATIVE VS PROGRESSIVE WEB APPS VS HYBRID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357B3-1BE1-4820-9106-F5FA51C4F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71196"/>
            <a:ext cx="9905999" cy="3541714"/>
          </a:xfrm>
        </p:spPr>
        <p:txBody>
          <a:bodyPr>
            <a:noAutofit/>
          </a:bodyPr>
          <a:lstStyle/>
          <a:p>
            <a:r>
              <a:rPr lang="en-GB" sz="4000" dirty="0"/>
              <a:t>Performance</a:t>
            </a:r>
          </a:p>
          <a:p>
            <a:r>
              <a:rPr lang="en-GB" sz="4000" dirty="0"/>
              <a:t>Security</a:t>
            </a:r>
          </a:p>
          <a:p>
            <a:r>
              <a:rPr lang="en-GB" sz="4000" dirty="0"/>
              <a:t>Development Cost &amp; Time</a:t>
            </a:r>
          </a:p>
          <a:p>
            <a:r>
              <a:rPr lang="en-GB" sz="4000" dirty="0"/>
              <a:t>Scalability</a:t>
            </a:r>
          </a:p>
          <a:p>
            <a:r>
              <a:rPr lang="en-GB" sz="4000" dirty="0"/>
              <a:t>Maintenance effort</a:t>
            </a:r>
          </a:p>
        </p:txBody>
      </p:sp>
    </p:spTree>
    <p:extLst>
      <p:ext uri="{BB962C8B-B14F-4D97-AF65-F5344CB8AC3E}">
        <p14:creationId xmlns:p14="http://schemas.microsoft.com/office/powerpoint/2010/main" val="1338066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55A85-C817-A23E-A436-7697CD08C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6000" dirty="0"/>
              <a:t>MOBILE APPLICATION PROGRAMMING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922FC-4B93-C038-F4BE-31E6E8C05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820987"/>
            <a:ext cx="9905999" cy="3541714"/>
          </a:xfrm>
        </p:spPr>
        <p:txBody>
          <a:bodyPr>
            <a:normAutofit/>
          </a:bodyPr>
          <a:lstStyle/>
          <a:p>
            <a:r>
              <a:rPr lang="en-GB" sz="4000" dirty="0"/>
              <a:t>For Android </a:t>
            </a:r>
          </a:p>
          <a:p>
            <a:r>
              <a:rPr lang="en-GB" sz="4000" dirty="0"/>
              <a:t>For iOS  </a:t>
            </a:r>
          </a:p>
          <a:p>
            <a:r>
              <a:rPr lang="en-GB" sz="4000" dirty="0"/>
              <a:t>For Cross-platform</a:t>
            </a:r>
          </a:p>
        </p:txBody>
      </p:sp>
    </p:spTree>
    <p:extLst>
      <p:ext uri="{BB962C8B-B14F-4D97-AF65-F5344CB8AC3E}">
        <p14:creationId xmlns:p14="http://schemas.microsoft.com/office/powerpoint/2010/main" val="8770855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40F97-C25D-58EB-DD92-30E1535D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JAVA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19F1E-A58A-8C37-03F6-607FC9D67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Primary platform</a:t>
            </a:r>
          </a:p>
          <a:p>
            <a:r>
              <a:rPr lang="en-GB" sz="4000" dirty="0"/>
              <a:t>Key advantage</a:t>
            </a:r>
          </a:p>
          <a:p>
            <a:r>
              <a:rPr lang="en-GB" sz="4000" dirty="0"/>
              <a:t>Limitation</a:t>
            </a:r>
          </a:p>
          <a:p>
            <a:r>
              <a:rPr lang="en-GB" sz="4000" dirty="0"/>
              <a:t>Typical use case</a:t>
            </a:r>
          </a:p>
        </p:txBody>
      </p:sp>
    </p:spTree>
    <p:extLst>
      <p:ext uri="{BB962C8B-B14F-4D97-AF65-F5344CB8AC3E}">
        <p14:creationId xmlns:p14="http://schemas.microsoft.com/office/powerpoint/2010/main" val="843951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245BD-5D25-7A2A-9633-17DFB3519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KOTLIN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7365C-5D65-D095-60A9-36B0BA08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Primary platform</a:t>
            </a:r>
          </a:p>
          <a:p>
            <a:r>
              <a:rPr lang="en-GB" sz="4000" dirty="0"/>
              <a:t>Key advantage</a:t>
            </a:r>
          </a:p>
          <a:p>
            <a:r>
              <a:rPr lang="en-GB" sz="4000" dirty="0"/>
              <a:t>Limitation</a:t>
            </a:r>
          </a:p>
          <a:p>
            <a:r>
              <a:rPr lang="en-GB" sz="4000" dirty="0"/>
              <a:t>Typical use case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2506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4A2BF-8978-47B2-0FFC-891A686BF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SWIFT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DABBF-02F4-0791-6481-BB7895792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Primary platform</a:t>
            </a:r>
          </a:p>
          <a:p>
            <a:r>
              <a:rPr lang="en-GB" sz="4000" dirty="0"/>
              <a:t>Key advantage</a:t>
            </a:r>
          </a:p>
          <a:p>
            <a:r>
              <a:rPr lang="en-GB" sz="4000" dirty="0"/>
              <a:t>Limitation</a:t>
            </a:r>
          </a:p>
          <a:p>
            <a:r>
              <a:rPr lang="en-GB" sz="4000" dirty="0"/>
              <a:t>Typical use case</a:t>
            </a:r>
          </a:p>
        </p:txBody>
      </p:sp>
    </p:spTree>
    <p:extLst>
      <p:ext uri="{BB962C8B-B14F-4D97-AF65-F5344CB8AC3E}">
        <p14:creationId xmlns:p14="http://schemas.microsoft.com/office/powerpoint/2010/main" val="161738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1E15C-57F4-1D60-7F29-CC9A3B9E3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SWIFT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8E11E-5656-99D3-44DD-FA49AC3DB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Primary platform</a:t>
            </a:r>
          </a:p>
          <a:p>
            <a:r>
              <a:rPr lang="en-GB" sz="4000" dirty="0"/>
              <a:t>Key advantage</a:t>
            </a:r>
          </a:p>
          <a:p>
            <a:r>
              <a:rPr lang="en-GB" sz="4000" dirty="0"/>
              <a:t>Limitation</a:t>
            </a:r>
          </a:p>
          <a:p>
            <a:r>
              <a:rPr lang="en-GB" sz="4000" dirty="0"/>
              <a:t>Typical use case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7601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3BE72-9FAF-2721-2C81-9B9684A6C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OBJECTIVE-C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6C3EB-D94C-5F19-34C5-7E4341DACE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Primary platform</a:t>
            </a:r>
          </a:p>
          <a:p>
            <a:r>
              <a:rPr lang="en-GB" sz="4000" dirty="0"/>
              <a:t>Key advantage</a:t>
            </a:r>
          </a:p>
          <a:p>
            <a:r>
              <a:rPr lang="en-GB" sz="4000" dirty="0"/>
              <a:t>Limitation</a:t>
            </a:r>
          </a:p>
          <a:p>
            <a:r>
              <a:rPr lang="en-GB" sz="4000" dirty="0"/>
              <a:t>Typical use case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9066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C3D9C-0353-2EE5-8345-591F20C50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DART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503B2-66D4-E52A-63EC-2A6A69CDC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Primary platform</a:t>
            </a:r>
          </a:p>
          <a:p>
            <a:r>
              <a:rPr lang="en-GB" sz="4000" dirty="0"/>
              <a:t>Key advantage</a:t>
            </a:r>
          </a:p>
          <a:p>
            <a:r>
              <a:rPr lang="en-GB" sz="4000" dirty="0"/>
              <a:t>Limitation</a:t>
            </a:r>
          </a:p>
          <a:p>
            <a:r>
              <a:rPr lang="en-GB" sz="4000" dirty="0"/>
              <a:t>Typical use case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39372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6F2AA-31C8-0DB9-9731-1673392EE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23DDD-D90D-55F9-EB1A-2B9CC4B46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Primary platform</a:t>
            </a:r>
          </a:p>
          <a:p>
            <a:r>
              <a:rPr lang="en-GB" sz="4000" dirty="0"/>
              <a:t>Key advantage</a:t>
            </a:r>
          </a:p>
          <a:p>
            <a:r>
              <a:rPr lang="en-GB" sz="4000" dirty="0"/>
              <a:t>Limitation</a:t>
            </a:r>
          </a:p>
          <a:p>
            <a:r>
              <a:rPr lang="en-GB" sz="4000" dirty="0"/>
              <a:t>Typical use case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5854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436F9-07F8-9DF6-5FB3-21B02637E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6000" dirty="0"/>
              <a:t>MOBILE APP DEVELOPMENT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4AB73B-BC8E-1042-9CC9-C290D31E4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97768"/>
            <a:ext cx="9905999" cy="3541714"/>
          </a:xfrm>
        </p:spPr>
        <p:txBody>
          <a:bodyPr>
            <a:normAutofit/>
          </a:bodyPr>
          <a:lstStyle/>
          <a:p>
            <a:r>
              <a:rPr lang="en-GB" sz="4000" dirty="0"/>
              <a:t>FLUTTER</a:t>
            </a:r>
          </a:p>
          <a:p>
            <a:r>
              <a:rPr lang="en-GB" sz="4000" dirty="0"/>
              <a:t>React Native</a:t>
            </a:r>
          </a:p>
          <a:p>
            <a:r>
              <a:rPr lang="en-GB" sz="4000" dirty="0"/>
              <a:t>Xamarin / .NET MAUI </a:t>
            </a:r>
          </a:p>
          <a:p>
            <a:r>
              <a:rPr lang="en-GB" sz="4000" dirty="0"/>
              <a:t>Ionic</a:t>
            </a:r>
          </a:p>
        </p:txBody>
      </p:sp>
    </p:spTree>
    <p:extLst>
      <p:ext uri="{BB962C8B-B14F-4D97-AF65-F5344CB8AC3E}">
        <p14:creationId xmlns:p14="http://schemas.microsoft.com/office/powerpoint/2010/main" val="4131651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03ED0-4484-67A0-0C77-A7CBE8EDE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9750" y="-336884"/>
            <a:ext cx="9905998" cy="1478570"/>
          </a:xfrm>
        </p:spPr>
        <p:txBody>
          <a:bodyPr/>
          <a:lstStyle/>
          <a:p>
            <a:pPr algn="ctr"/>
            <a:r>
              <a:rPr lang="en-GB" dirty="0"/>
              <a:t>Comparing mobile frameworks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74B0EA4-E339-E157-4D9A-E82AF10CC1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4305883"/>
              </p:ext>
            </p:extLst>
          </p:nvPr>
        </p:nvGraphicFramePr>
        <p:xfrm>
          <a:off x="0" y="770021"/>
          <a:ext cx="12192000" cy="6087981"/>
        </p:xfrm>
        <a:graphic>
          <a:graphicData uri="http://schemas.openxmlformats.org/drawingml/2006/table">
            <a:tbl>
              <a:tblPr firstRow="1" firstCol="1" bandRow="1">
                <a:tableStyleId>{8FD4443E-F989-4FC4-A0C8-D5A2AF1F390B}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1623596802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1380091479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3942696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896303415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964031762"/>
                    </a:ext>
                  </a:extLst>
                </a:gridCol>
              </a:tblGrid>
              <a:tr h="6508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Feature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Flutter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React Native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Xamarin/.NET MAUI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Ionic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92446277"/>
                  </a:ext>
                </a:extLst>
              </a:tr>
              <a:tr h="6508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Language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Dart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JavaScript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C#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JS/HTML/CSS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8798903"/>
                  </a:ext>
                </a:extLst>
              </a:tr>
              <a:tr h="6508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Performance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Best (native ARM)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Near-native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Near-native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WebView (slower)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899614759"/>
                  </a:ext>
                </a:extLst>
              </a:tr>
              <a:tr h="6508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Cost &amp; Licensing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Free/Open Source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Free/Open Source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Paid (Visual Studio)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Free/Open Source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998615454"/>
                  </a:ext>
                </a:extLst>
              </a:tr>
              <a:tr h="6508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Time to Market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Fast (Hot Reload)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Fast (Hot Reload)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Slow (enterprise-grade)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Fastest (web skills)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166211555"/>
                  </a:ext>
                </a:extLst>
              </a:tr>
              <a:tr h="87298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UX &amp; UI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Custom widgets, pixel-perfect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Native components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Native UI per platform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Web-like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11810404"/>
                  </a:ext>
                </a:extLst>
              </a:tr>
              <a:tr h="6508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Complexity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Moderate (learn Dart)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Low (use JS/React)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High (.NET ecosystem)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Low (web dev skills)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45811940"/>
                  </a:ext>
                </a:extLst>
              </a:tr>
              <a:tr h="43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Community Support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Large (Google-backed)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Largest (Meta-backed)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Medium (Microsoft)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Small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51509611"/>
                  </a:ext>
                </a:extLst>
              </a:tr>
              <a:tr h="87298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Platforms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iOS, Android, Web, Desktop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iOS, Android, Web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iOS, Android, Windows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iOS, Android, PWA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5881208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7005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CEBFC-42D1-D549-5A46-F4F1F455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232" y="327514"/>
            <a:ext cx="10748209" cy="1478570"/>
          </a:xfrm>
        </p:spPr>
        <p:txBody>
          <a:bodyPr>
            <a:noAutofit/>
          </a:bodyPr>
          <a:lstStyle/>
          <a:p>
            <a:r>
              <a:rPr lang="en-GB" sz="4800" dirty="0"/>
              <a:t>MOBILE APPLICATION ARCHITECTURES AND 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34BD4-086F-CB2D-3108-AD58FAFD9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806084"/>
            <a:ext cx="9905999" cy="3541714"/>
          </a:xfrm>
        </p:spPr>
        <p:txBody>
          <a:bodyPr>
            <a:noAutofit/>
          </a:bodyPr>
          <a:lstStyle/>
          <a:p>
            <a:r>
              <a:rPr lang="en-GB" sz="3200" dirty="0"/>
              <a:t>MVC – Model View Controller</a:t>
            </a:r>
          </a:p>
          <a:p>
            <a:r>
              <a:rPr lang="en-GB" sz="3200" dirty="0"/>
              <a:t>MVP – Model View Presenter</a:t>
            </a:r>
          </a:p>
          <a:p>
            <a:r>
              <a:rPr lang="en-GB" sz="3200" dirty="0"/>
              <a:t>MVVM – Model View </a:t>
            </a:r>
            <a:r>
              <a:rPr lang="en-GB" sz="3200" dirty="0" err="1"/>
              <a:t>ViewModel</a:t>
            </a:r>
            <a:endParaRPr lang="en-GB" sz="3200" dirty="0"/>
          </a:p>
          <a:p>
            <a:r>
              <a:rPr lang="en-GB" sz="3200" dirty="0"/>
              <a:t>MVI – Model-View-Intent</a:t>
            </a:r>
          </a:p>
          <a:p>
            <a:r>
              <a:rPr lang="en-GB" sz="3200" dirty="0"/>
              <a:t>Clean Architecture</a:t>
            </a:r>
          </a:p>
          <a:p>
            <a:r>
              <a:rPr lang="en-GB" sz="3200" dirty="0"/>
              <a:t>VIPER</a:t>
            </a:r>
          </a:p>
        </p:txBody>
      </p:sp>
    </p:spTree>
    <p:extLst>
      <p:ext uri="{BB962C8B-B14F-4D97-AF65-F5344CB8AC3E}">
        <p14:creationId xmlns:p14="http://schemas.microsoft.com/office/powerpoint/2010/main" val="2339759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69C38-B379-FD3D-0064-13DC0FEC3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E0EFCF9-EEA9-DBDC-A102-3D937FF820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7828424"/>
              </p:ext>
            </p:extLst>
          </p:nvPr>
        </p:nvGraphicFramePr>
        <p:xfrm>
          <a:off x="0" y="0"/>
          <a:ext cx="12191995" cy="6857999"/>
        </p:xfrm>
        <a:graphic>
          <a:graphicData uri="http://schemas.openxmlformats.org/drawingml/2006/table">
            <a:tbl>
              <a:tblPr firstRow="1" firstCol="1" bandRow="1">
                <a:tableStyleId>{8FD4443E-F989-4FC4-A0C8-D5A2AF1F390B}</a:tableStyleId>
              </a:tblPr>
              <a:tblGrid>
                <a:gridCol w="2438399">
                  <a:extLst>
                    <a:ext uri="{9D8B030D-6E8A-4147-A177-3AD203B41FA5}">
                      <a16:colId xmlns:a16="http://schemas.microsoft.com/office/drawing/2014/main" val="1726035497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747363558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1928865857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4274658556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3188955954"/>
                    </a:ext>
                  </a:extLst>
                </a:gridCol>
              </a:tblGrid>
              <a:tr h="107147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Pattern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Layers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Testability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Complexity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Best Use Case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93259634"/>
                  </a:ext>
                </a:extLst>
              </a:tr>
              <a:tr h="107147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MVC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Model, View, Controller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Low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Low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Small apps, prototyping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07113405"/>
                  </a:ext>
                </a:extLst>
              </a:tr>
              <a:tr h="4291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MVP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Model, View, Presenter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Medium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Medium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Medium apps, Android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59385918"/>
                  </a:ext>
                </a:extLst>
              </a:tr>
              <a:tr h="107147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MVVM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Model, View, ViewModel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High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Medium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Data-driven apps, data binding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05099803"/>
                  </a:ext>
                </a:extLst>
              </a:tr>
              <a:tr h="107147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MVI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Model, View, Intent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Very High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High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Reactive UIs, complex state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65842444"/>
                  </a:ext>
                </a:extLst>
              </a:tr>
              <a:tr h="107147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Clean Architecture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Domain, Data, Presentation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Very High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Very High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Enterprise, large teams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67347710"/>
                  </a:ext>
                </a:extLst>
              </a:tr>
              <a:tr h="107147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VIPER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View, Interactor, Presenter, Entity, Router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High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Very High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Large iOS apps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826702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2429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37D8E-E1A9-F0D8-FBFD-9BEE782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6000" dirty="0"/>
              <a:t>REQUIREMENT ENGINEERING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A5B8F-8055-3939-E8D3-B10277D5F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97768"/>
            <a:ext cx="9905999" cy="3541714"/>
          </a:xfrm>
        </p:spPr>
        <p:txBody>
          <a:bodyPr>
            <a:normAutofit/>
          </a:bodyPr>
          <a:lstStyle/>
          <a:p>
            <a:r>
              <a:rPr lang="en-GB" sz="3600" dirty="0"/>
              <a:t>Types of Requirements</a:t>
            </a:r>
          </a:p>
          <a:p>
            <a:r>
              <a:rPr lang="en-GB" sz="3600" dirty="0"/>
              <a:t>Requirement Elicitation Techniques</a:t>
            </a:r>
          </a:p>
          <a:p>
            <a:r>
              <a:rPr lang="en-GB" sz="3600" dirty="0"/>
              <a:t>Requirement Analysis Process</a:t>
            </a:r>
          </a:p>
        </p:txBody>
      </p:sp>
    </p:spTree>
    <p:extLst>
      <p:ext uri="{BB962C8B-B14F-4D97-AF65-F5344CB8AC3E}">
        <p14:creationId xmlns:p14="http://schemas.microsoft.com/office/powerpoint/2010/main" val="39824505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5B0B8-AB01-655E-9473-648E87625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511486"/>
            <a:ext cx="9905998" cy="1478570"/>
          </a:xfrm>
        </p:spPr>
        <p:txBody>
          <a:bodyPr>
            <a:noAutofit/>
          </a:bodyPr>
          <a:lstStyle/>
          <a:p>
            <a:pPr algn="ctr"/>
            <a:r>
              <a:rPr lang="en-GB" sz="6000" dirty="0"/>
              <a:t>Types of Requirements</a:t>
            </a:r>
            <a:br>
              <a:rPr lang="en-GB" sz="6000" dirty="0"/>
            </a:br>
            <a:endParaRPr lang="en-GB" sz="6000" dirty="0"/>
          </a:p>
        </p:txBody>
      </p:sp>
    </p:spTree>
    <p:extLst>
      <p:ext uri="{BB962C8B-B14F-4D97-AF65-F5344CB8AC3E}">
        <p14:creationId xmlns:p14="http://schemas.microsoft.com/office/powerpoint/2010/main" val="42084057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C2DF7-412B-C3C8-5671-CC9E05F4C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8087" y="1021080"/>
            <a:ext cx="9905998" cy="1478570"/>
          </a:xfrm>
        </p:spPr>
        <p:txBody>
          <a:bodyPr>
            <a:noAutofit/>
          </a:bodyPr>
          <a:lstStyle/>
          <a:p>
            <a:pPr algn="ctr"/>
            <a:r>
              <a:rPr lang="en-GB" sz="6000" dirty="0"/>
              <a:t>Requirement Elicitation Techniques</a:t>
            </a:r>
            <a:br>
              <a:rPr lang="en-GB" sz="6000" dirty="0"/>
            </a:br>
            <a:endParaRPr lang="en-GB" sz="6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C118C-B1AE-8FF3-8A7F-F6433C7BB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2675" y="2499650"/>
            <a:ext cx="9905999" cy="2841860"/>
          </a:xfrm>
        </p:spPr>
        <p:txBody>
          <a:bodyPr>
            <a:noAutofit/>
          </a:bodyPr>
          <a:lstStyle/>
          <a:p>
            <a:r>
              <a:rPr lang="en-GB" sz="3600" dirty="0"/>
              <a:t>Stakeholder Interviews</a:t>
            </a:r>
          </a:p>
          <a:p>
            <a:r>
              <a:rPr lang="en-GB" sz="3600" dirty="0"/>
              <a:t>Surveys &amp; Questionnaires</a:t>
            </a:r>
          </a:p>
          <a:p>
            <a:r>
              <a:rPr lang="en-GB" sz="3600" dirty="0"/>
              <a:t>Market &amp; Competitor Analysis</a:t>
            </a:r>
          </a:p>
          <a:p>
            <a:r>
              <a:rPr lang="en-GB" sz="3600" dirty="0"/>
              <a:t>Prototyping</a:t>
            </a:r>
          </a:p>
          <a:p>
            <a:r>
              <a:rPr lang="en-GB" sz="3600" dirty="0"/>
              <a:t>App Store Review Mining</a:t>
            </a:r>
          </a:p>
        </p:txBody>
      </p:sp>
    </p:spTree>
    <p:extLst>
      <p:ext uri="{BB962C8B-B14F-4D97-AF65-F5344CB8AC3E}">
        <p14:creationId xmlns:p14="http://schemas.microsoft.com/office/powerpoint/2010/main" val="38678970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86CBD-2CF2-B5B9-8D17-091588B04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876" y="2807368"/>
            <a:ext cx="9905998" cy="1519572"/>
          </a:xfrm>
        </p:spPr>
        <p:txBody>
          <a:bodyPr>
            <a:noAutofit/>
          </a:bodyPr>
          <a:lstStyle/>
          <a:p>
            <a:pPr algn="ctr"/>
            <a:r>
              <a:rPr lang="en-GB" sz="6000" dirty="0"/>
              <a:t>Requirement Analysis Process</a:t>
            </a:r>
            <a:br>
              <a:rPr lang="en-GB" sz="6000" dirty="0"/>
            </a:br>
            <a:endParaRPr lang="en-GB" sz="6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6A08B-4BD0-AC7D-D4C7-8CB748437893}"/>
              </a:ext>
            </a:extLst>
          </p:cNvPr>
          <p:cNvSpPr>
            <a:spLocks noGrp="1"/>
          </p:cNvSpPr>
          <p:nvPr>
            <p:ph idx="1"/>
          </p:nvPr>
        </p:nvSpPr>
        <p:spPr>
          <a:xfrm flipV="1">
            <a:off x="1141412" y="5791200"/>
            <a:ext cx="9905999" cy="45719"/>
          </a:xfrm>
        </p:spPr>
        <p:txBody>
          <a:bodyPr>
            <a:normAutofit fontScale="25000" lnSpcReduction="20000"/>
          </a:bodyPr>
          <a:lstStyle/>
          <a:p>
            <a:pPr marL="457200" indent="-45720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17363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1837322-1694-1772-A4A2-D9BD0D1FA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-335570"/>
            <a:ext cx="9905998" cy="1478570"/>
          </a:xfrm>
        </p:spPr>
        <p:txBody>
          <a:bodyPr/>
          <a:lstStyle/>
          <a:p>
            <a:pPr algn="ctr"/>
            <a:r>
              <a:rPr lang="en-GB" dirty="0"/>
              <a:t>Requirement engineering summary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6D7D7B5-C9CA-94CD-B412-DF8571E5E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1990860"/>
              </p:ext>
            </p:extLst>
          </p:nvPr>
        </p:nvGraphicFramePr>
        <p:xfrm>
          <a:off x="0" y="832757"/>
          <a:ext cx="12192000" cy="6025240"/>
        </p:xfrm>
        <a:graphic>
          <a:graphicData uri="http://schemas.openxmlformats.org/drawingml/2006/table">
            <a:tbl>
              <a:tblPr firstRow="1" firstCol="1" bandRow="1">
                <a:tableStyleId>{8FD4443E-F989-4FC4-A0C8-D5A2AF1F390B}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4283624364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5868916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815394488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57968376"/>
                    </a:ext>
                  </a:extLst>
                </a:gridCol>
              </a:tblGrid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Activity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Technique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Output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When to Use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23373183"/>
                  </a:ext>
                </a:extLst>
              </a:tr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Elicitation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Stakeholder Interviews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Raw requirements list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Project kickoff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19299202"/>
                  </a:ext>
                </a:extLst>
              </a:tr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Elicitation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Surveys / Questionnaires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Quantified user needs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Large user base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96116489"/>
                  </a:ext>
                </a:extLst>
              </a:tr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Analysis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Competitor / SWOT Analysis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Feature gap identification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Market research phase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02315536"/>
                  </a:ext>
                </a:extLst>
              </a:tr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Prioritization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MoSCoW Analysis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Ranked requirements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Before development sprint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749760498"/>
                  </a:ext>
                </a:extLst>
              </a:tr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Validation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Prototyping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Verified requirements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After elicitation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12009354"/>
                  </a:ext>
                </a:extLst>
              </a:tr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Continuous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App Review Mining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Evolving requirements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Post-launch updates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686288991"/>
                  </a:ext>
                </a:extLst>
              </a:tr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Documentation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SRS Document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Technical specification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Before engineering begins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12680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71318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09813-1422-FB52-FD59-FB22B098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4" y="291947"/>
            <a:ext cx="9905998" cy="1478570"/>
          </a:xfrm>
        </p:spPr>
        <p:txBody>
          <a:bodyPr>
            <a:noAutofit/>
          </a:bodyPr>
          <a:lstStyle/>
          <a:p>
            <a:r>
              <a:rPr lang="en-GB" sz="6000" dirty="0"/>
              <a:t>MOBILE APP DEVELOPMENT COST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C7755-DF5E-179C-F29A-594C19FC2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971902"/>
            <a:ext cx="9905999" cy="3541714"/>
          </a:xfrm>
        </p:spPr>
        <p:txBody>
          <a:bodyPr>
            <a:noAutofit/>
          </a:bodyPr>
          <a:lstStyle/>
          <a:p>
            <a:r>
              <a:rPr lang="en-GB" sz="3600" dirty="0"/>
              <a:t>The Core Cost Formula </a:t>
            </a:r>
          </a:p>
          <a:p>
            <a:r>
              <a:rPr lang="en-GB" sz="3600" dirty="0"/>
              <a:t>Cost by App Complexity</a:t>
            </a:r>
          </a:p>
          <a:p>
            <a:r>
              <a:rPr lang="en-GB" sz="3600" dirty="0"/>
              <a:t>Key Cost Factors</a:t>
            </a:r>
          </a:p>
          <a:p>
            <a:r>
              <a:rPr lang="en-GB" sz="3600" dirty="0"/>
              <a:t>Cost Estimation Methods</a:t>
            </a:r>
          </a:p>
          <a:p>
            <a:r>
              <a:rPr lang="en-GB" sz="3600" dirty="0"/>
              <a:t>Cost Breakdown by Development Phase</a:t>
            </a:r>
          </a:p>
        </p:txBody>
      </p:sp>
    </p:spTree>
    <p:extLst>
      <p:ext uri="{BB962C8B-B14F-4D97-AF65-F5344CB8AC3E}">
        <p14:creationId xmlns:p14="http://schemas.microsoft.com/office/powerpoint/2010/main" val="24136327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88B3F-7A60-5710-1F0C-DB5992C28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4699" y="0"/>
            <a:ext cx="9905998" cy="1478570"/>
          </a:xfrm>
        </p:spPr>
        <p:txBody>
          <a:bodyPr/>
          <a:lstStyle/>
          <a:p>
            <a:r>
              <a:rPr lang="en-GB" dirty="0"/>
              <a:t>COST by app complexity (2025)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4AFAB1D-D540-E566-8D60-040C04556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2023676"/>
              </p:ext>
            </p:extLst>
          </p:nvPr>
        </p:nvGraphicFramePr>
        <p:xfrm>
          <a:off x="0" y="1175656"/>
          <a:ext cx="12191995" cy="5810188"/>
        </p:xfrm>
        <a:graphic>
          <a:graphicData uri="http://schemas.openxmlformats.org/drawingml/2006/table">
            <a:tbl>
              <a:tblPr firstRow="1" firstCol="1" bandRow="1">
                <a:tableStyleId>{8FD4443E-F989-4FC4-A0C8-D5A2AF1F390B}</a:tableStyleId>
              </a:tblPr>
              <a:tblGrid>
                <a:gridCol w="2438399">
                  <a:extLst>
                    <a:ext uri="{9D8B030D-6E8A-4147-A177-3AD203B41FA5}">
                      <a16:colId xmlns:a16="http://schemas.microsoft.com/office/drawing/2014/main" val="777623559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3934093011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4242026328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1879307376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1809691325"/>
                    </a:ext>
                  </a:extLst>
                </a:gridCol>
              </a:tblGrid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 dirty="0">
                          <a:effectLst/>
                        </a:rPr>
                        <a:t>Category</a:t>
                      </a:r>
                      <a:endParaRPr lang="en-GB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Simple App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Medium App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Complex App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Enterprise App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42949910"/>
                  </a:ext>
                </a:extLst>
              </a:tr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Examples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Calculator, To-do list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E-commerce, Social feed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AR/VR, AI, Fintech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Multi-platform enterprise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51353821"/>
                  </a:ext>
                </a:extLst>
              </a:tr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Cost Range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$5k–$50k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$50k–$120k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$100k–$300k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$300k–$500k+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42479544"/>
                  </a:ext>
                </a:extLst>
              </a:tr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Timeline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1–3 months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3–6 months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6–12 months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12+ months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68332501"/>
                  </a:ext>
                </a:extLst>
              </a:tr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Team Size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2–3 people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 dirty="0">
                          <a:effectLst/>
                        </a:rPr>
                        <a:t>4–6 people</a:t>
                      </a:r>
                      <a:endParaRPr lang="en-GB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7–12 people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12+ people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8668875"/>
                  </a:ext>
                </a:extLst>
              </a:tr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Maintenance/yr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$1k–$10k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$10k–$25k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$25k–$60k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$60k+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33830037"/>
                  </a:ext>
                </a:extLst>
              </a:tr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UX/UI Design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$5k–$10k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$10k–$25k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$25k–$50k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$50k+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541758987"/>
                  </a:ext>
                </a:extLst>
              </a:tr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Testing &amp; QA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$1k–$8k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$8k–$20k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$20k–$50k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 dirty="0">
                          <a:effectLst/>
                        </a:rPr>
                        <a:t>$50k+</a:t>
                      </a:r>
                      <a:endParaRPr lang="en-GB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679264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2413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98F4F-AEC0-4DA1-3A25-6D89468F6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47318"/>
            <a:ext cx="9905998" cy="1478570"/>
          </a:xfrm>
        </p:spPr>
        <p:txBody>
          <a:bodyPr>
            <a:normAutofit/>
          </a:bodyPr>
          <a:lstStyle/>
          <a:p>
            <a:pPr algn="ctr"/>
            <a:r>
              <a:rPr lang="en-GB" sz="9600" dirty="0"/>
              <a:t>THANK YOU </a:t>
            </a:r>
          </a:p>
        </p:txBody>
      </p:sp>
    </p:spTree>
    <p:extLst>
      <p:ext uri="{BB962C8B-B14F-4D97-AF65-F5344CB8AC3E}">
        <p14:creationId xmlns:p14="http://schemas.microsoft.com/office/powerpoint/2010/main" val="339854677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78</TotalTime>
  <Words>741</Words>
  <Application>Microsoft Office PowerPoint</Application>
  <PresentationFormat>Widescreen</PresentationFormat>
  <Paragraphs>261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Arial</vt:lpstr>
      <vt:lpstr>Tw Cen MT</vt:lpstr>
      <vt:lpstr>Circuit</vt:lpstr>
      <vt:lpstr>CEF 440: INTERNET PROGRAMMING AND MOBILE PROGRAMMING</vt:lpstr>
      <vt:lpstr>OUTLINE</vt:lpstr>
      <vt:lpstr>Types of mobile applications</vt:lpstr>
      <vt:lpstr>Native mobile apps</vt:lpstr>
      <vt:lpstr>PROGRESSIVE WEB APPS</vt:lpstr>
      <vt:lpstr>HYBRID APPS</vt:lpstr>
      <vt:lpstr>NATIVE VS PROGRESSIVE WEB APPS VS HYBRID APPS</vt:lpstr>
      <vt:lpstr>MOBILE APPLICATION PROGRAMMING LANGUAGES</vt:lpstr>
      <vt:lpstr>JAVA</vt:lpstr>
      <vt:lpstr>KOTLIN</vt:lpstr>
      <vt:lpstr>SWIFT</vt:lpstr>
      <vt:lpstr>SWIFT</vt:lpstr>
      <vt:lpstr>OBJECTIVE-C</vt:lpstr>
      <vt:lpstr>DART</vt:lpstr>
      <vt:lpstr>PYTHON</vt:lpstr>
      <vt:lpstr>MOBILE APP DEVELOPMENT FRAMEWORKS</vt:lpstr>
      <vt:lpstr>Comparing mobile frameworks</vt:lpstr>
      <vt:lpstr>MOBILE APPLICATION ARCHITECTURES AND DESIGN PATTERNS</vt:lpstr>
      <vt:lpstr>PowerPoint Presentation</vt:lpstr>
      <vt:lpstr>REQUIREMENT ENGINEERING PROCESS</vt:lpstr>
      <vt:lpstr>Types of Requirements </vt:lpstr>
      <vt:lpstr>Requirement Elicitation Techniques </vt:lpstr>
      <vt:lpstr>Requirement Analysis Process </vt:lpstr>
      <vt:lpstr>Requirement engineering summary</vt:lpstr>
      <vt:lpstr>MOBILE APP DEVELOPMENT COST ESTIMATION</vt:lpstr>
      <vt:lpstr>COST by app complexity (2025)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Kelsey Oben</dc:creator>
  <cp:lastModifiedBy>Kelsey Oben</cp:lastModifiedBy>
  <cp:revision>2</cp:revision>
  <dcterms:created xsi:type="dcterms:W3CDTF">2026-04-06T09:26:55Z</dcterms:created>
  <dcterms:modified xsi:type="dcterms:W3CDTF">2026-04-06T10:45:44Z</dcterms:modified>
</cp:coreProperties>
</file>