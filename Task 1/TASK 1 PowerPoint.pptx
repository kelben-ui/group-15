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73" r:id="rId13"/>
    <p:sldId id="274" r:id="rId14"/>
    <p:sldId id="283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outlineViewPr>
    <p:cViewPr>
      <p:scale>
        <a:sx n="33" d="100"/>
        <a:sy n="33" d="100"/>
      </p:scale>
      <p:origin x="0" y="-1307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07C0-4256-4DC2-060F-4F6EA286F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628549"/>
            <a:ext cx="8791575" cy="2387600"/>
          </a:xfrm>
        </p:spPr>
        <p:txBody>
          <a:bodyPr>
            <a:noAutofit/>
          </a:bodyPr>
          <a:lstStyle/>
          <a:p>
            <a:r>
              <a:rPr lang="en-GB" sz="6000" dirty="0"/>
              <a:t>CEF 440: INTERNET PROGRAMMING AND MOBILE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06DC6-BD73-3699-9037-A251069A6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1352" y="4255180"/>
            <a:ext cx="8791575" cy="1655762"/>
          </a:xfrm>
        </p:spPr>
        <p:txBody>
          <a:bodyPr/>
          <a:lstStyle/>
          <a:p>
            <a:r>
              <a:rPr lang="en-GB" sz="3200" dirty="0"/>
              <a:t>GROUP 15</a:t>
            </a:r>
          </a:p>
          <a:p>
            <a:r>
              <a:rPr lang="en-GB" sz="3200" dirty="0"/>
              <a:t>Task 1: Mobile App Development Process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18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D4C1-36CF-1E67-CA94-4EF1EC6F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61318"/>
            <a:ext cx="9905998" cy="1478570"/>
          </a:xfrm>
        </p:spPr>
        <p:txBody>
          <a:bodyPr>
            <a:normAutofit/>
          </a:bodyPr>
          <a:lstStyle/>
          <a:p>
            <a:r>
              <a:rPr lang="en-GB" sz="800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8155B-7BFC-30E9-C915-CEBAC7C55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>
            <a:noAutofit/>
          </a:bodyPr>
          <a:lstStyle/>
          <a:p>
            <a:r>
              <a:rPr lang="en-GB" sz="3600" dirty="0"/>
              <a:t>Types of Mobile applications</a:t>
            </a:r>
          </a:p>
          <a:p>
            <a:r>
              <a:rPr lang="en-GB" sz="3600" dirty="0"/>
              <a:t>Mobile apps programming languages</a:t>
            </a:r>
          </a:p>
          <a:p>
            <a:r>
              <a:rPr lang="en-GB" sz="3600" dirty="0"/>
              <a:t>Mobile app development frameworks</a:t>
            </a:r>
          </a:p>
          <a:p>
            <a:r>
              <a:rPr lang="en-GB" sz="3600" dirty="0"/>
              <a:t>Mobile app architectures and design patterns</a:t>
            </a:r>
          </a:p>
          <a:p>
            <a:r>
              <a:rPr lang="en-GB" sz="3600" dirty="0"/>
              <a:t>Requirement engineering process</a:t>
            </a:r>
          </a:p>
          <a:p>
            <a:r>
              <a:rPr lang="en-GB" sz="3600" dirty="0"/>
              <a:t>Mobile app development cost estimation</a:t>
            </a:r>
          </a:p>
        </p:txBody>
      </p:sp>
    </p:spTree>
    <p:extLst>
      <p:ext uri="{BB962C8B-B14F-4D97-AF65-F5344CB8AC3E}">
        <p14:creationId xmlns:p14="http://schemas.microsoft.com/office/powerpoint/2010/main" val="296190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0201-74B1-B945-84B9-B8009C0A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7200" dirty="0"/>
              <a:t>Types of mobile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9C4C7-93ED-3B6C-65A8-6AD6408E7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041" y="2697768"/>
            <a:ext cx="9905999" cy="3541714"/>
          </a:xfrm>
        </p:spPr>
        <p:txBody>
          <a:bodyPr>
            <a:noAutofit/>
          </a:bodyPr>
          <a:lstStyle/>
          <a:p>
            <a:r>
              <a:rPr lang="en-GB" sz="4000" dirty="0"/>
              <a:t>Native mobile apps</a:t>
            </a:r>
          </a:p>
          <a:p>
            <a:r>
              <a:rPr lang="en-GB" sz="4000" dirty="0"/>
              <a:t>Progressive web apps</a:t>
            </a:r>
          </a:p>
          <a:p>
            <a:r>
              <a:rPr lang="en-GB" sz="4000" dirty="0"/>
              <a:t>Hybrid apps</a:t>
            </a:r>
          </a:p>
        </p:txBody>
      </p:sp>
    </p:spTree>
    <p:extLst>
      <p:ext uri="{BB962C8B-B14F-4D97-AF65-F5344CB8AC3E}">
        <p14:creationId xmlns:p14="http://schemas.microsoft.com/office/powerpoint/2010/main" val="207656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CBE5-194F-5763-0323-8286E06C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Native mobile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C9B6B-4B4C-E2C5-379D-FE24EEB5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96584"/>
            <a:ext cx="9905999" cy="3541714"/>
          </a:xfrm>
        </p:spPr>
        <p:txBody>
          <a:bodyPr>
            <a:normAutofit/>
          </a:bodyPr>
          <a:lstStyle/>
          <a:p>
            <a:r>
              <a:rPr lang="en-GB" sz="4000" dirty="0"/>
              <a:t>What is a native app?</a:t>
            </a:r>
          </a:p>
          <a:p>
            <a:r>
              <a:rPr lang="en-GB" sz="4000" dirty="0"/>
              <a:t>Characteristics</a:t>
            </a:r>
          </a:p>
          <a:p>
            <a:r>
              <a:rPr lang="en-GB" sz="4000" dirty="0"/>
              <a:t>Advantages of native apps</a:t>
            </a:r>
          </a:p>
          <a:p>
            <a:r>
              <a:rPr lang="en-GB" sz="4000" dirty="0"/>
              <a:t>Disadvantages of native apps</a:t>
            </a:r>
          </a:p>
        </p:txBody>
      </p:sp>
    </p:spTree>
    <p:extLst>
      <p:ext uri="{BB962C8B-B14F-4D97-AF65-F5344CB8AC3E}">
        <p14:creationId xmlns:p14="http://schemas.microsoft.com/office/powerpoint/2010/main" val="40882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9FCA-2902-E16D-72F2-86B0CAD4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PROGRESSIVE WEB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76CC-E9D5-ABA5-D617-487DA846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What is a progressive app?</a:t>
            </a:r>
          </a:p>
          <a:p>
            <a:r>
              <a:rPr lang="en-GB" sz="4000" dirty="0"/>
              <a:t>Characteristics</a:t>
            </a:r>
          </a:p>
          <a:p>
            <a:r>
              <a:rPr lang="en-GB" sz="4000" dirty="0"/>
              <a:t>Advantages </a:t>
            </a:r>
          </a:p>
          <a:p>
            <a:r>
              <a:rPr lang="en-GB" sz="4000" dirty="0"/>
              <a:t>Disadvantages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16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BF94-982A-054D-D0E0-D25CB56C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HYBRID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E909C-8218-52CD-568C-8DDA3F5A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What is a hybrid app?</a:t>
            </a:r>
          </a:p>
          <a:p>
            <a:r>
              <a:rPr lang="en-GB" sz="4000" dirty="0"/>
              <a:t>Characteristics</a:t>
            </a:r>
          </a:p>
          <a:p>
            <a:r>
              <a:rPr lang="en-GB" sz="4000" dirty="0"/>
              <a:t>Advantages </a:t>
            </a:r>
          </a:p>
          <a:p>
            <a:r>
              <a:rPr lang="en-GB" sz="4000" dirty="0"/>
              <a:t>Disadvantages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869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7ED5-1A18-35C6-7DE9-F294AA40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NATIVE VS PROGRESSIVE WEB APPS VS HYBRID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57B3-1BE1-4820-9106-F5FA51C4F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71196"/>
            <a:ext cx="9905999" cy="3541714"/>
          </a:xfrm>
        </p:spPr>
        <p:txBody>
          <a:bodyPr>
            <a:noAutofit/>
          </a:bodyPr>
          <a:lstStyle/>
          <a:p>
            <a:r>
              <a:rPr lang="en-GB" sz="4000" dirty="0"/>
              <a:t>Performance</a:t>
            </a:r>
          </a:p>
          <a:p>
            <a:r>
              <a:rPr lang="en-GB" sz="4000" dirty="0"/>
              <a:t>Security</a:t>
            </a:r>
          </a:p>
          <a:p>
            <a:r>
              <a:rPr lang="en-GB" sz="4000" dirty="0"/>
              <a:t>Development Cost &amp; Time</a:t>
            </a:r>
          </a:p>
          <a:p>
            <a:r>
              <a:rPr lang="en-GB" sz="4000" dirty="0"/>
              <a:t>Scalability</a:t>
            </a:r>
          </a:p>
          <a:p>
            <a:r>
              <a:rPr lang="en-GB" sz="4000" dirty="0"/>
              <a:t>Maintenance effort</a:t>
            </a:r>
          </a:p>
        </p:txBody>
      </p:sp>
    </p:spTree>
    <p:extLst>
      <p:ext uri="{BB962C8B-B14F-4D97-AF65-F5344CB8AC3E}">
        <p14:creationId xmlns:p14="http://schemas.microsoft.com/office/powerpoint/2010/main" val="133806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5A85-C817-A23E-A436-7697CD08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MOBILE APPLICATION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922FC-4B93-C038-F4BE-31E6E8C05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820987"/>
            <a:ext cx="9905999" cy="3541714"/>
          </a:xfrm>
        </p:spPr>
        <p:txBody>
          <a:bodyPr>
            <a:normAutofit/>
          </a:bodyPr>
          <a:lstStyle/>
          <a:p>
            <a:r>
              <a:rPr lang="en-GB" sz="4000" dirty="0"/>
              <a:t>For Android </a:t>
            </a:r>
          </a:p>
          <a:p>
            <a:r>
              <a:rPr lang="en-GB" sz="4000" dirty="0"/>
              <a:t>For iOS  </a:t>
            </a:r>
          </a:p>
          <a:p>
            <a:r>
              <a:rPr lang="en-GB" sz="4000" dirty="0"/>
              <a:t>For Cross-platform</a:t>
            </a:r>
          </a:p>
        </p:txBody>
      </p:sp>
    </p:spTree>
    <p:extLst>
      <p:ext uri="{BB962C8B-B14F-4D97-AF65-F5344CB8AC3E}">
        <p14:creationId xmlns:p14="http://schemas.microsoft.com/office/powerpoint/2010/main" val="87708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0F97-C25D-58EB-DD92-30E1535D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6000" dirty="0"/>
              <a:t>JAVA, KOTLIN, SWIFT, OBJECTIVE-C, DART,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19F1E-A58A-8C37-03F6-607FC9D67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Primary platform</a:t>
            </a:r>
          </a:p>
          <a:p>
            <a:r>
              <a:rPr lang="en-GB" sz="4000" dirty="0"/>
              <a:t>Key advantage</a:t>
            </a:r>
          </a:p>
          <a:p>
            <a:r>
              <a:rPr lang="en-GB" sz="4000" dirty="0"/>
              <a:t>Limitation</a:t>
            </a:r>
          </a:p>
          <a:p>
            <a:r>
              <a:rPr lang="en-GB" sz="4000" dirty="0"/>
              <a:t>Typical use case</a:t>
            </a:r>
          </a:p>
        </p:txBody>
      </p:sp>
    </p:spTree>
    <p:extLst>
      <p:ext uri="{BB962C8B-B14F-4D97-AF65-F5344CB8AC3E}">
        <p14:creationId xmlns:p14="http://schemas.microsoft.com/office/powerpoint/2010/main" val="84395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36F9-07F8-9DF6-5FB3-21B02637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MOBILE APP DEVELOPMENT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AB73B-BC8E-1042-9CC9-C290D31E4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97768"/>
            <a:ext cx="9905999" cy="3541714"/>
          </a:xfrm>
        </p:spPr>
        <p:txBody>
          <a:bodyPr>
            <a:normAutofit/>
          </a:bodyPr>
          <a:lstStyle/>
          <a:p>
            <a:r>
              <a:rPr lang="en-GB" sz="4000" dirty="0"/>
              <a:t>FLUTTER</a:t>
            </a:r>
          </a:p>
          <a:p>
            <a:r>
              <a:rPr lang="en-GB" sz="4000" dirty="0"/>
              <a:t>React Native</a:t>
            </a:r>
          </a:p>
          <a:p>
            <a:r>
              <a:rPr lang="en-GB" sz="4000" dirty="0"/>
              <a:t>Xamarin  </a:t>
            </a:r>
          </a:p>
          <a:p>
            <a:r>
              <a:rPr lang="en-GB" sz="4000" dirty="0"/>
              <a:t>Ionic</a:t>
            </a:r>
          </a:p>
        </p:txBody>
      </p:sp>
    </p:spTree>
    <p:extLst>
      <p:ext uri="{BB962C8B-B14F-4D97-AF65-F5344CB8AC3E}">
        <p14:creationId xmlns:p14="http://schemas.microsoft.com/office/powerpoint/2010/main" val="413165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03ED0-4484-67A0-0C77-A7CBE8ED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750" y="-336884"/>
            <a:ext cx="9905998" cy="1478570"/>
          </a:xfrm>
        </p:spPr>
        <p:txBody>
          <a:bodyPr/>
          <a:lstStyle/>
          <a:p>
            <a:pPr algn="ctr"/>
            <a:r>
              <a:rPr lang="en-GB" dirty="0"/>
              <a:t>Comparing mobile frameworks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4B0EA4-E339-E157-4D9A-E82AF10CC1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4305883"/>
              </p:ext>
            </p:extLst>
          </p:nvPr>
        </p:nvGraphicFramePr>
        <p:xfrm>
          <a:off x="0" y="770021"/>
          <a:ext cx="12192000" cy="6087981"/>
        </p:xfrm>
        <a:graphic>
          <a:graphicData uri="http://schemas.openxmlformats.org/drawingml/2006/table">
            <a:tbl>
              <a:tblPr firstRow="1" firstCol="1" bandRow="1">
                <a:tableStyleId>{8FD4443E-F989-4FC4-A0C8-D5A2AF1F390B}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623596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8009147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3942696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9630341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964031762"/>
                    </a:ext>
                  </a:extLst>
                </a:gridCol>
              </a:tblGrid>
              <a:tr h="6508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Feature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Flutter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React Native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Xamarin/.NET MAUI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Ionic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2446277"/>
                  </a:ext>
                </a:extLst>
              </a:tr>
              <a:tr h="6508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Language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Dart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JavaScript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C#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JS/HTML/CSS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798903"/>
                  </a:ext>
                </a:extLst>
              </a:tr>
              <a:tr h="6508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Performance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Best (native ARM)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Near-native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Near-native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WebView (slower)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99614759"/>
                  </a:ext>
                </a:extLst>
              </a:tr>
              <a:tr h="6508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Cost &amp; Licensing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Free/Open Source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Free/Open Source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Paid (Visual Studio)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Free/Open Source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8615454"/>
                  </a:ext>
                </a:extLst>
              </a:tr>
              <a:tr h="6508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Time to Market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Fast (Hot Reload)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Fast (Hot Reload)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Slow (enterprise-grade)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Fastest (web skills)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6211555"/>
                  </a:ext>
                </a:extLst>
              </a:tr>
              <a:tr h="8729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UX &amp; UI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Custom widgets, pixel-perfect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Native components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Native UI per platform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Web-like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1810404"/>
                  </a:ext>
                </a:extLst>
              </a:tr>
              <a:tr h="6508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Complexity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Moderate (learn Dart)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Low (use JS/React)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High (.NET ecosystem)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Low (web dev skills)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45811940"/>
                  </a:ext>
                </a:extLst>
              </a:tr>
              <a:tr h="43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Community Support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Large (Google-backed)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Largest (Meta-backed)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Medium (Microsoft)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Small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1509611"/>
                  </a:ext>
                </a:extLst>
              </a:tr>
              <a:tr h="8729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Platforms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iOS, Android, Web, Desktop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iOS, Android, Web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iOS, Android, Windows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iOS, Android, PWA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88120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00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EBFC-42D1-D549-5A46-F4F1F455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327514"/>
            <a:ext cx="10748209" cy="1478570"/>
          </a:xfrm>
        </p:spPr>
        <p:txBody>
          <a:bodyPr>
            <a:noAutofit/>
          </a:bodyPr>
          <a:lstStyle/>
          <a:p>
            <a:r>
              <a:rPr lang="en-GB" sz="4800" dirty="0"/>
              <a:t>MOBILE APPLICATION ARCHITECTURES AND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4BD4-086F-CB2D-3108-AD58FAFD9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6084"/>
            <a:ext cx="9905999" cy="3541714"/>
          </a:xfrm>
        </p:spPr>
        <p:txBody>
          <a:bodyPr>
            <a:noAutofit/>
          </a:bodyPr>
          <a:lstStyle/>
          <a:p>
            <a:r>
              <a:rPr lang="en-GB" sz="3200" dirty="0"/>
              <a:t>MVC </a:t>
            </a:r>
          </a:p>
          <a:p>
            <a:r>
              <a:rPr lang="en-GB" sz="3200" dirty="0"/>
              <a:t>MVP </a:t>
            </a:r>
          </a:p>
          <a:p>
            <a:r>
              <a:rPr lang="en-GB" sz="3200" dirty="0"/>
              <a:t>MVVM </a:t>
            </a:r>
          </a:p>
          <a:p>
            <a:r>
              <a:rPr lang="en-GB" sz="3200" dirty="0"/>
              <a:t>MVI </a:t>
            </a:r>
          </a:p>
          <a:p>
            <a:r>
              <a:rPr lang="en-GB" sz="3200" dirty="0"/>
              <a:t>Clean Architecture</a:t>
            </a:r>
          </a:p>
          <a:p>
            <a:r>
              <a:rPr lang="en-GB" sz="3200" dirty="0"/>
              <a:t>VIPER</a:t>
            </a:r>
          </a:p>
        </p:txBody>
      </p:sp>
    </p:spTree>
    <p:extLst>
      <p:ext uri="{BB962C8B-B14F-4D97-AF65-F5344CB8AC3E}">
        <p14:creationId xmlns:p14="http://schemas.microsoft.com/office/powerpoint/2010/main" val="2339759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9C38-B379-FD3D-0064-13DC0FEC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0EFCF9-EEA9-DBDC-A102-3D937FF82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2096164"/>
              </p:ext>
            </p:extLst>
          </p:nvPr>
        </p:nvGraphicFramePr>
        <p:xfrm>
          <a:off x="0" y="0"/>
          <a:ext cx="12191995" cy="6857999"/>
        </p:xfrm>
        <a:graphic>
          <a:graphicData uri="http://schemas.openxmlformats.org/drawingml/2006/table">
            <a:tbl>
              <a:tblPr firstRow="1" firstCol="1" bandRow="1">
                <a:tableStyleId>{8FD4443E-F989-4FC4-A0C8-D5A2AF1F390B}</a:tableStyleId>
              </a:tblPr>
              <a:tblGrid>
                <a:gridCol w="2438399">
                  <a:extLst>
                    <a:ext uri="{9D8B030D-6E8A-4147-A177-3AD203B41FA5}">
                      <a16:colId xmlns:a16="http://schemas.microsoft.com/office/drawing/2014/main" val="1726035497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747363558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1928865857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4274658556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3188955954"/>
                    </a:ext>
                  </a:extLst>
                </a:gridCol>
              </a:tblGrid>
              <a:tr h="10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Pattern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Layers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Testability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Complexity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Best Use Case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93259634"/>
                  </a:ext>
                </a:extLst>
              </a:tr>
              <a:tr h="10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MVC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Model, View, Controller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Low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Low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Small apps, prototyping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7113405"/>
                  </a:ext>
                </a:extLst>
              </a:tr>
              <a:tr h="4291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MVP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Model, View, Presenter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Medium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Medium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Medium apps, Android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9385918"/>
                  </a:ext>
                </a:extLst>
              </a:tr>
              <a:tr h="10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MVVM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Model, View, ViewModel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High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Medium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Data-driven apps, data binding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5099803"/>
                  </a:ext>
                </a:extLst>
              </a:tr>
              <a:tr h="10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MVI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Model, View, Intent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Very High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High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Reactive UIs, complex state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5842444"/>
                  </a:ext>
                </a:extLst>
              </a:tr>
              <a:tr h="10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Clean Architecture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Domain, Data, Presentation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Very High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Very High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Enterprise, large teams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7347710"/>
                  </a:ext>
                </a:extLst>
              </a:tr>
              <a:tr h="10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VIPER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View, Interactor, Presenter, Entity, Router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High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Very High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Large iOS apps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267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429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E0EA-E54A-D6F8-037F-0A4AE424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6374F-C5BD-C01C-4AD5-BCBE7327B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800" dirty="0"/>
              <a:t>Singleton: Ensures that only one instance of a class exists in the entire application.</a:t>
            </a:r>
          </a:p>
          <a:p>
            <a:r>
              <a:rPr lang="en-GB" sz="2800" dirty="0"/>
              <a:t>Factory: Creates objects without specifying the exact class to instantiate</a:t>
            </a:r>
          </a:p>
          <a:p>
            <a:r>
              <a:rPr lang="en-GB" sz="2800" dirty="0"/>
              <a:t>Observer: Allows one object to notify many other objects automatically when it changes.</a:t>
            </a:r>
          </a:p>
          <a:p>
            <a:r>
              <a:rPr lang="en-GB" sz="2800" dirty="0"/>
              <a:t>Dependency Injection</a:t>
            </a:r>
          </a:p>
          <a:p>
            <a:r>
              <a:rPr lang="en-GB" sz="2800" dirty="0"/>
              <a:t>Repository patterns</a:t>
            </a:r>
          </a:p>
        </p:txBody>
      </p:sp>
    </p:spTree>
    <p:extLst>
      <p:ext uri="{BB962C8B-B14F-4D97-AF65-F5344CB8AC3E}">
        <p14:creationId xmlns:p14="http://schemas.microsoft.com/office/powerpoint/2010/main" val="85559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7D8E-E1A9-F0D8-FBFD-9BEE782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6000" dirty="0"/>
              <a:t>REQUIREMENT ENGINEERING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A5B8F-8055-3939-E8D3-B10277D5F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97768"/>
            <a:ext cx="9905999" cy="3541714"/>
          </a:xfrm>
        </p:spPr>
        <p:txBody>
          <a:bodyPr>
            <a:normAutofit/>
          </a:bodyPr>
          <a:lstStyle/>
          <a:p>
            <a:r>
              <a:rPr lang="en-GB" sz="3600" dirty="0"/>
              <a:t>Types of Requirements</a:t>
            </a:r>
          </a:p>
          <a:p>
            <a:r>
              <a:rPr lang="en-GB" sz="3600" dirty="0"/>
              <a:t>Requirement Elicitation Techniques</a:t>
            </a:r>
          </a:p>
          <a:p>
            <a:r>
              <a:rPr lang="en-GB" sz="3600" dirty="0"/>
              <a:t>Requirement Analysis Process</a:t>
            </a:r>
          </a:p>
        </p:txBody>
      </p:sp>
    </p:spTree>
    <p:extLst>
      <p:ext uri="{BB962C8B-B14F-4D97-AF65-F5344CB8AC3E}">
        <p14:creationId xmlns:p14="http://schemas.microsoft.com/office/powerpoint/2010/main" val="3982450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B0B8-AB01-655E-9473-648E8762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6000" dirty="0"/>
              <a:t>Types of Requirements</a:t>
            </a:r>
            <a:br>
              <a:rPr lang="en-GB" sz="6000" dirty="0"/>
            </a:br>
            <a:endParaRPr lang="en-GB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F28B-65B0-9C0D-3991-A93B69D3E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4000" dirty="0"/>
              <a:t>Functional Requirements: These define what the system does like logging into an account</a:t>
            </a:r>
          </a:p>
          <a:p>
            <a:r>
              <a:rPr lang="en-GB" sz="4000" dirty="0"/>
              <a:t>Non – functional requirements: These defines how a system performs focusing on speed and other factors</a:t>
            </a:r>
          </a:p>
        </p:txBody>
      </p:sp>
    </p:spTree>
    <p:extLst>
      <p:ext uri="{BB962C8B-B14F-4D97-AF65-F5344CB8AC3E}">
        <p14:creationId xmlns:p14="http://schemas.microsoft.com/office/powerpoint/2010/main" val="4208405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2DF7-412B-C3C8-5671-CC9E05F4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087" y="1021080"/>
            <a:ext cx="9905998" cy="1478570"/>
          </a:xfrm>
        </p:spPr>
        <p:txBody>
          <a:bodyPr>
            <a:noAutofit/>
          </a:bodyPr>
          <a:lstStyle/>
          <a:p>
            <a:pPr algn="ctr"/>
            <a:r>
              <a:rPr lang="en-GB" sz="6000" dirty="0"/>
              <a:t>Requirement Elicitation Techniques</a:t>
            </a:r>
            <a:br>
              <a:rPr lang="en-GB" sz="6000" dirty="0"/>
            </a:br>
            <a:endParaRPr lang="en-GB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118C-B1AE-8FF3-8A7F-F6433C7BB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675" y="2499650"/>
            <a:ext cx="9905999" cy="28418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dirty="0"/>
              <a:t>To find these requirements, we use some techniques which include: interviews and surveys to hear directly from users, app analysis to benchmark competitors and creation of user personas to simulate real world behaviour</a:t>
            </a:r>
          </a:p>
        </p:txBody>
      </p:sp>
    </p:spTree>
    <p:extLst>
      <p:ext uri="{BB962C8B-B14F-4D97-AF65-F5344CB8AC3E}">
        <p14:creationId xmlns:p14="http://schemas.microsoft.com/office/powerpoint/2010/main" val="3867897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6CBD-2CF2-B5B9-8D17-091588B0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6000" dirty="0"/>
              <a:t>Requirement Analysis Process</a:t>
            </a:r>
            <a:br>
              <a:rPr lang="en-GB" sz="6000" dirty="0"/>
            </a:br>
            <a:endParaRPr lang="en-GB" sz="6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721C1-D20A-A5DD-8A0B-1E69CC502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dirty="0"/>
              <a:t>Once gathered, we prioritize features to set THE PROJECT SCOPE THEN WE DOCUMENT THEM INTO user stories and we validate them to ensure everything is feasible and consistent</a:t>
            </a:r>
            <a:br>
              <a:rPr lang="en-GB" sz="440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736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1837322-1694-1772-A4A2-D9BD0D1F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335570"/>
            <a:ext cx="9905998" cy="1478570"/>
          </a:xfrm>
        </p:spPr>
        <p:txBody>
          <a:bodyPr/>
          <a:lstStyle/>
          <a:p>
            <a:pPr algn="ctr"/>
            <a:r>
              <a:rPr lang="en-GB" dirty="0"/>
              <a:t>Requirement engineering summary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6D7D7B5-C9CA-94CD-B412-DF8571E5E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990860"/>
              </p:ext>
            </p:extLst>
          </p:nvPr>
        </p:nvGraphicFramePr>
        <p:xfrm>
          <a:off x="0" y="832757"/>
          <a:ext cx="12192000" cy="6025240"/>
        </p:xfrm>
        <a:graphic>
          <a:graphicData uri="http://schemas.openxmlformats.org/drawingml/2006/table">
            <a:tbl>
              <a:tblPr firstRow="1" firstCol="1" bandRow="1">
                <a:tableStyleId>{8FD4443E-F989-4FC4-A0C8-D5A2AF1F390B}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2836243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5868916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1539448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57968376"/>
                    </a:ext>
                  </a:extLst>
                </a:gridCol>
              </a:tblGrid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Activity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Technique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Output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When to Use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3373183"/>
                  </a:ext>
                </a:extLst>
              </a:tr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Elicitation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Stakeholder Interviews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Raw requirements list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Project kickoff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19299202"/>
                  </a:ext>
                </a:extLst>
              </a:tr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Elicitation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Surveys / Questionnaires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Quantified user needs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Large user base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6116489"/>
                  </a:ext>
                </a:extLst>
              </a:tr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Analysis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Competitor / SWOT Analysis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Feature gap identification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Market research phase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2315536"/>
                  </a:ext>
                </a:extLst>
              </a:tr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Prioritization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MoSCoW Analysis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Ranked requirements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Before development sprint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9760498"/>
                  </a:ext>
                </a:extLst>
              </a:tr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Validation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Prototyping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Verified requirements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After elicitation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2009354"/>
                  </a:ext>
                </a:extLst>
              </a:tr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Continuous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App Review Mining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Evolving requirements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Post-launch updates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6288991"/>
                  </a:ext>
                </a:extLst>
              </a:tr>
              <a:tr h="753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Documentation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SRS Document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Technical specification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Before engineering begins</a:t>
                      </a:r>
                      <a:endParaRPr lang="en-GB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268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131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9813-1422-FB52-FD59-FB22B098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91947"/>
            <a:ext cx="9905998" cy="1478570"/>
          </a:xfrm>
        </p:spPr>
        <p:txBody>
          <a:bodyPr>
            <a:noAutofit/>
          </a:bodyPr>
          <a:lstStyle/>
          <a:p>
            <a:r>
              <a:rPr lang="en-GB" sz="6000" dirty="0"/>
              <a:t>MOBILE APP DEVELOPMENT COST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C7755-DF5E-179C-F29A-594C19FC2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71902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dirty="0"/>
              <a:t>Estimating mobile app development costs is key to project success. It involves understanding the CORE COST FORMULA and how APP COMPLEXITY dramatically impacts the budget </a:t>
            </a:r>
          </a:p>
        </p:txBody>
      </p:sp>
    </p:spTree>
    <p:extLst>
      <p:ext uri="{BB962C8B-B14F-4D97-AF65-F5344CB8AC3E}">
        <p14:creationId xmlns:p14="http://schemas.microsoft.com/office/powerpoint/2010/main" val="2413632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6046EC-B3E7-D2D4-A9F4-383B1622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2B9C3-7F53-40C9-AFED-C6495C7DB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/>
              <a:t>We analyse Key Cost Factors like platform, design, and integrations and use various COST ESTIMATION METHODS. A detailed COST BREAKDOWN BY DEVELOPMENT PHASE from design deployment is essential for accurate budgeting</a:t>
            </a:r>
          </a:p>
        </p:txBody>
      </p:sp>
    </p:spTree>
    <p:extLst>
      <p:ext uri="{BB962C8B-B14F-4D97-AF65-F5344CB8AC3E}">
        <p14:creationId xmlns:p14="http://schemas.microsoft.com/office/powerpoint/2010/main" val="190241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8F4F-AEC0-4DA1-3A25-6D89468F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473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GB" sz="9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3985467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364</TotalTime>
  <Words>710</Words>
  <Application>Microsoft Office PowerPoint</Application>
  <PresentationFormat>Widescreen</PresentationFormat>
  <Paragraphs>192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Tw Cen MT</vt:lpstr>
      <vt:lpstr>Circuit</vt:lpstr>
      <vt:lpstr>CEF 440: INTERNET PROGRAMMING AND MOBILE PROGRAMMING</vt:lpstr>
      <vt:lpstr>OUTLINE</vt:lpstr>
      <vt:lpstr>Types of mobile applications</vt:lpstr>
      <vt:lpstr>Native mobile apps</vt:lpstr>
      <vt:lpstr>PROGRESSIVE WEB APPS</vt:lpstr>
      <vt:lpstr>HYBRID APPS</vt:lpstr>
      <vt:lpstr>NATIVE VS PROGRESSIVE WEB APPS VS HYBRID APPS</vt:lpstr>
      <vt:lpstr>MOBILE APPLICATION PROGRAMMING LANGUAGES</vt:lpstr>
      <vt:lpstr>JAVA, KOTLIN, SWIFT, OBJECTIVE-C, DART, PYTHON</vt:lpstr>
      <vt:lpstr>MOBILE APP DEVELOPMENT FRAMEWORKS</vt:lpstr>
      <vt:lpstr>Comparing mobile frameworks</vt:lpstr>
      <vt:lpstr>MOBILE APPLICATION ARCHITECTURES AND DESIGN PATTERNS</vt:lpstr>
      <vt:lpstr>PowerPoint Presentation</vt:lpstr>
      <vt:lpstr>Design patterns</vt:lpstr>
      <vt:lpstr>REQUIREMENT ENGINEERING PROCESS</vt:lpstr>
      <vt:lpstr>Types of Requirements </vt:lpstr>
      <vt:lpstr>Requirement Elicitation Techniques </vt:lpstr>
      <vt:lpstr>Requirement Analysis Process </vt:lpstr>
      <vt:lpstr>Requirement engineering summary</vt:lpstr>
      <vt:lpstr>MOBILE APP DEVELOPMENT COST ESTIMATION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Kelsey Oben</dc:creator>
  <cp:lastModifiedBy>Kelsey Oben</cp:lastModifiedBy>
  <cp:revision>8</cp:revision>
  <dcterms:created xsi:type="dcterms:W3CDTF">2026-04-06T09:26:55Z</dcterms:created>
  <dcterms:modified xsi:type="dcterms:W3CDTF">2026-04-14T13:52:44Z</dcterms:modified>
</cp:coreProperties>
</file>